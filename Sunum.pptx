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0" r:id="rId1"/>
  </p:sldMasterIdLst>
  <p:sldIdLst>
    <p:sldId id="278" r:id="rId2"/>
    <p:sldId id="277" r:id="rId3"/>
    <p:sldId id="279" r:id="rId4"/>
    <p:sldId id="280" r:id="rId5"/>
    <p:sldId id="276" r:id="rId6"/>
    <p:sldId id="267" r:id="rId7"/>
    <p:sldId id="257" r:id="rId8"/>
    <p:sldId id="268" r:id="rId9"/>
    <p:sldId id="258" r:id="rId10"/>
    <p:sldId id="259" r:id="rId11"/>
    <p:sldId id="272" r:id="rId12"/>
    <p:sldId id="273" r:id="rId13"/>
    <p:sldId id="269" r:id="rId14"/>
    <p:sldId id="262" r:id="rId15"/>
    <p:sldId id="263" r:id="rId16"/>
    <p:sldId id="270" r:id="rId17"/>
    <p:sldId id="264" r:id="rId18"/>
    <p:sldId id="281" r:id="rId19"/>
    <p:sldId id="271" r:id="rId20"/>
    <p:sldId id="266" r:id="rId21"/>
    <p:sldId id="28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0619" autoAdjust="0"/>
    <p:restoredTop sz="94604" autoAdjust="0"/>
  </p:normalViewPr>
  <p:slideViewPr>
    <p:cSldViewPr snapToGrid="0">
      <p:cViewPr varScale="1">
        <p:scale>
          <a:sx n="64" d="100"/>
          <a:sy n="64" d="100"/>
        </p:scale>
        <p:origin x="10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0FD004-A19F-4BFC-B68E-CA439C9FB23F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E18C780-8165-437A-B966-6DA2315EE430}">
      <dgm:prSet/>
      <dgm:spPr/>
      <dgm:t>
        <a:bodyPr/>
        <a:lstStyle/>
        <a:p>
          <a:r>
            <a:rPr lang="tr-TR"/>
            <a:t>Deb paketi haline getirme</a:t>
          </a:r>
          <a:endParaRPr lang="en-US"/>
        </a:p>
      </dgm:t>
    </dgm:pt>
    <dgm:pt modelId="{A8410BF2-22DD-428A-90E1-DBB57C69B42A}" type="parTrans" cxnId="{B1901DA4-A3B4-4FA0-A0D0-ECFEAC2059A8}">
      <dgm:prSet/>
      <dgm:spPr/>
      <dgm:t>
        <a:bodyPr/>
        <a:lstStyle/>
        <a:p>
          <a:endParaRPr lang="en-US"/>
        </a:p>
      </dgm:t>
    </dgm:pt>
    <dgm:pt modelId="{5F1CE5A2-9E25-4049-AC88-A760C85C255E}" type="sibTrans" cxnId="{B1901DA4-A3B4-4FA0-A0D0-ECFEAC2059A8}">
      <dgm:prSet/>
      <dgm:spPr/>
      <dgm:t>
        <a:bodyPr/>
        <a:lstStyle/>
        <a:p>
          <a:endParaRPr lang="en-US"/>
        </a:p>
      </dgm:t>
    </dgm:pt>
    <dgm:pt modelId="{AEA90445-4318-437E-A2B0-28FA5479DFF0}">
      <dgm:prSet/>
      <dgm:spPr/>
      <dgm:t>
        <a:bodyPr/>
        <a:lstStyle/>
        <a:p>
          <a:r>
            <a:rPr lang="tr-TR"/>
            <a:t>Trivy ve Grype outputları karşılaştırma</a:t>
          </a:r>
          <a:endParaRPr lang="en-US"/>
        </a:p>
      </dgm:t>
    </dgm:pt>
    <dgm:pt modelId="{1E26B47F-86CC-46CF-9A79-03DE10FD2063}" type="parTrans" cxnId="{38A21AA1-DCC1-4DC9-9A55-B34972250D01}">
      <dgm:prSet/>
      <dgm:spPr/>
      <dgm:t>
        <a:bodyPr/>
        <a:lstStyle/>
        <a:p>
          <a:endParaRPr lang="en-US"/>
        </a:p>
      </dgm:t>
    </dgm:pt>
    <dgm:pt modelId="{A8CC7BB3-9039-484F-9B25-19E2B50FA027}" type="sibTrans" cxnId="{38A21AA1-DCC1-4DC9-9A55-B34972250D01}">
      <dgm:prSet/>
      <dgm:spPr/>
      <dgm:t>
        <a:bodyPr/>
        <a:lstStyle/>
        <a:p>
          <a:endParaRPr lang="en-US"/>
        </a:p>
      </dgm:t>
    </dgm:pt>
    <dgm:pt modelId="{C8177249-795D-475D-9D23-9CC25D64565C}">
      <dgm:prSet/>
      <dgm:spPr/>
      <dgm:t>
        <a:bodyPr/>
        <a:lstStyle/>
        <a:p>
          <a:r>
            <a:rPr lang="tr-TR"/>
            <a:t>Genel olarak output analizi</a:t>
          </a:r>
          <a:endParaRPr lang="en-US"/>
        </a:p>
      </dgm:t>
    </dgm:pt>
    <dgm:pt modelId="{566B3326-803C-4057-A381-E55188F74448}" type="parTrans" cxnId="{20A228E6-7D9C-4AB8-8CAB-5EE1A116706E}">
      <dgm:prSet/>
      <dgm:spPr/>
      <dgm:t>
        <a:bodyPr/>
        <a:lstStyle/>
        <a:p>
          <a:endParaRPr lang="en-US"/>
        </a:p>
      </dgm:t>
    </dgm:pt>
    <dgm:pt modelId="{73285FA3-47D3-40F8-BC2E-174F53AACB0F}" type="sibTrans" cxnId="{20A228E6-7D9C-4AB8-8CAB-5EE1A116706E}">
      <dgm:prSet/>
      <dgm:spPr/>
      <dgm:t>
        <a:bodyPr/>
        <a:lstStyle/>
        <a:p>
          <a:endParaRPr lang="en-US"/>
        </a:p>
      </dgm:t>
    </dgm:pt>
    <dgm:pt modelId="{F2F09457-835B-4A40-ACAE-254451F648B1}">
      <dgm:prSet/>
      <dgm:spPr/>
      <dgm:t>
        <a:bodyPr/>
        <a:lstStyle/>
        <a:p>
          <a:r>
            <a:rPr lang="tr-TR"/>
            <a:t>Kyverno ve kubernetes ile zenginleştirme</a:t>
          </a:r>
          <a:endParaRPr lang="en-US"/>
        </a:p>
      </dgm:t>
    </dgm:pt>
    <dgm:pt modelId="{D8F7BA37-6E43-4F73-A129-004627EE717E}" type="parTrans" cxnId="{E26A0912-6BA9-40E6-875C-0023D83B6156}">
      <dgm:prSet/>
      <dgm:spPr/>
      <dgm:t>
        <a:bodyPr/>
        <a:lstStyle/>
        <a:p>
          <a:endParaRPr lang="en-US"/>
        </a:p>
      </dgm:t>
    </dgm:pt>
    <dgm:pt modelId="{1D9588A8-CED9-4DC5-B4C6-0743CA4B70E1}" type="sibTrans" cxnId="{E26A0912-6BA9-40E6-875C-0023D83B6156}">
      <dgm:prSet/>
      <dgm:spPr/>
      <dgm:t>
        <a:bodyPr/>
        <a:lstStyle/>
        <a:p>
          <a:endParaRPr lang="en-US"/>
        </a:p>
      </dgm:t>
    </dgm:pt>
    <dgm:pt modelId="{D87F934C-2F35-47F2-9151-5171708BC2A5}">
      <dgm:prSet/>
      <dgm:spPr/>
      <dgm:t>
        <a:bodyPr/>
        <a:lstStyle/>
        <a:p>
          <a:r>
            <a:rPr lang="tr-TR"/>
            <a:t>Şu anda sadece bir tane file alıyor ama arttırılabilir.</a:t>
          </a:r>
          <a:endParaRPr lang="en-US"/>
        </a:p>
      </dgm:t>
    </dgm:pt>
    <dgm:pt modelId="{F8D7ADC3-E5BE-4038-B702-C4DF695D2B59}" type="parTrans" cxnId="{58E146A6-1A76-45E4-AD00-1DA1785C487A}">
      <dgm:prSet/>
      <dgm:spPr/>
      <dgm:t>
        <a:bodyPr/>
        <a:lstStyle/>
        <a:p>
          <a:endParaRPr lang="en-US"/>
        </a:p>
      </dgm:t>
    </dgm:pt>
    <dgm:pt modelId="{E01D2516-715A-4D79-A05A-1428FD27C1E4}" type="sibTrans" cxnId="{58E146A6-1A76-45E4-AD00-1DA1785C487A}">
      <dgm:prSet/>
      <dgm:spPr/>
      <dgm:t>
        <a:bodyPr/>
        <a:lstStyle/>
        <a:p>
          <a:endParaRPr lang="en-US"/>
        </a:p>
      </dgm:t>
    </dgm:pt>
    <dgm:pt modelId="{65C68A4C-8AA9-6147-9DB9-711B5A3D7FBD}" type="pres">
      <dgm:prSet presAssocID="{DE0FD004-A19F-4BFC-B68E-CA439C9FB23F}" presName="vert0" presStyleCnt="0">
        <dgm:presLayoutVars>
          <dgm:dir/>
          <dgm:animOne val="branch"/>
          <dgm:animLvl val="lvl"/>
        </dgm:presLayoutVars>
      </dgm:prSet>
      <dgm:spPr/>
    </dgm:pt>
    <dgm:pt modelId="{6B3B01CA-29FF-A94E-BEE4-E316500DCFCF}" type="pres">
      <dgm:prSet presAssocID="{1E18C780-8165-437A-B966-6DA2315EE430}" presName="thickLine" presStyleLbl="alignNode1" presStyleIdx="0" presStyleCnt="5"/>
      <dgm:spPr/>
    </dgm:pt>
    <dgm:pt modelId="{80A590D5-5646-F547-9185-68A69706F45E}" type="pres">
      <dgm:prSet presAssocID="{1E18C780-8165-437A-B966-6DA2315EE430}" presName="horz1" presStyleCnt="0"/>
      <dgm:spPr/>
    </dgm:pt>
    <dgm:pt modelId="{E56DE954-8F19-6343-B012-1DB1E577A760}" type="pres">
      <dgm:prSet presAssocID="{1E18C780-8165-437A-B966-6DA2315EE430}" presName="tx1" presStyleLbl="revTx" presStyleIdx="0" presStyleCnt="5"/>
      <dgm:spPr/>
    </dgm:pt>
    <dgm:pt modelId="{F91309BA-8749-F244-BDC7-0B443E26FB6F}" type="pres">
      <dgm:prSet presAssocID="{1E18C780-8165-437A-B966-6DA2315EE430}" presName="vert1" presStyleCnt="0"/>
      <dgm:spPr/>
    </dgm:pt>
    <dgm:pt modelId="{F9159CF9-F05E-A549-8AF8-56FA7B1D1E72}" type="pres">
      <dgm:prSet presAssocID="{AEA90445-4318-437E-A2B0-28FA5479DFF0}" presName="thickLine" presStyleLbl="alignNode1" presStyleIdx="1" presStyleCnt="5"/>
      <dgm:spPr/>
    </dgm:pt>
    <dgm:pt modelId="{5B0143C3-3CA8-8541-865D-D930D511ADDB}" type="pres">
      <dgm:prSet presAssocID="{AEA90445-4318-437E-A2B0-28FA5479DFF0}" presName="horz1" presStyleCnt="0"/>
      <dgm:spPr/>
    </dgm:pt>
    <dgm:pt modelId="{D103A533-BC57-1642-97EB-A3AB9D290AF6}" type="pres">
      <dgm:prSet presAssocID="{AEA90445-4318-437E-A2B0-28FA5479DFF0}" presName="tx1" presStyleLbl="revTx" presStyleIdx="1" presStyleCnt="5"/>
      <dgm:spPr/>
    </dgm:pt>
    <dgm:pt modelId="{53C923B5-AF11-A545-9560-0234F902871B}" type="pres">
      <dgm:prSet presAssocID="{AEA90445-4318-437E-A2B0-28FA5479DFF0}" presName="vert1" presStyleCnt="0"/>
      <dgm:spPr/>
    </dgm:pt>
    <dgm:pt modelId="{163F5FFD-EC51-9442-B28F-9F5903B2A9CC}" type="pres">
      <dgm:prSet presAssocID="{C8177249-795D-475D-9D23-9CC25D64565C}" presName="thickLine" presStyleLbl="alignNode1" presStyleIdx="2" presStyleCnt="5"/>
      <dgm:spPr/>
    </dgm:pt>
    <dgm:pt modelId="{9A8DDCBC-5F79-B941-B754-C2DDED314534}" type="pres">
      <dgm:prSet presAssocID="{C8177249-795D-475D-9D23-9CC25D64565C}" presName="horz1" presStyleCnt="0"/>
      <dgm:spPr/>
    </dgm:pt>
    <dgm:pt modelId="{24197A69-CA57-5941-BF8F-BB0538D9471C}" type="pres">
      <dgm:prSet presAssocID="{C8177249-795D-475D-9D23-9CC25D64565C}" presName="tx1" presStyleLbl="revTx" presStyleIdx="2" presStyleCnt="5"/>
      <dgm:spPr/>
    </dgm:pt>
    <dgm:pt modelId="{164D28FA-4541-B944-80F1-51E89D80F901}" type="pres">
      <dgm:prSet presAssocID="{C8177249-795D-475D-9D23-9CC25D64565C}" presName="vert1" presStyleCnt="0"/>
      <dgm:spPr/>
    </dgm:pt>
    <dgm:pt modelId="{F31ECD60-E80F-4540-A9F8-BC5A1FDC77EC}" type="pres">
      <dgm:prSet presAssocID="{F2F09457-835B-4A40-ACAE-254451F648B1}" presName="thickLine" presStyleLbl="alignNode1" presStyleIdx="3" presStyleCnt="5"/>
      <dgm:spPr/>
    </dgm:pt>
    <dgm:pt modelId="{25604400-A0AE-7B45-B302-2F2C7275BD4C}" type="pres">
      <dgm:prSet presAssocID="{F2F09457-835B-4A40-ACAE-254451F648B1}" presName="horz1" presStyleCnt="0"/>
      <dgm:spPr/>
    </dgm:pt>
    <dgm:pt modelId="{A83F32A7-B81D-E94F-B2E7-E192416949F1}" type="pres">
      <dgm:prSet presAssocID="{F2F09457-835B-4A40-ACAE-254451F648B1}" presName="tx1" presStyleLbl="revTx" presStyleIdx="3" presStyleCnt="5"/>
      <dgm:spPr/>
    </dgm:pt>
    <dgm:pt modelId="{8DB13679-2695-C84C-B196-5569ACA677EE}" type="pres">
      <dgm:prSet presAssocID="{F2F09457-835B-4A40-ACAE-254451F648B1}" presName="vert1" presStyleCnt="0"/>
      <dgm:spPr/>
    </dgm:pt>
    <dgm:pt modelId="{0547648B-080A-344C-8AF2-82AAF101BAC1}" type="pres">
      <dgm:prSet presAssocID="{D87F934C-2F35-47F2-9151-5171708BC2A5}" presName="thickLine" presStyleLbl="alignNode1" presStyleIdx="4" presStyleCnt="5"/>
      <dgm:spPr/>
    </dgm:pt>
    <dgm:pt modelId="{39686424-AB0E-254A-8293-AC5D44D72245}" type="pres">
      <dgm:prSet presAssocID="{D87F934C-2F35-47F2-9151-5171708BC2A5}" presName="horz1" presStyleCnt="0"/>
      <dgm:spPr/>
    </dgm:pt>
    <dgm:pt modelId="{3EC8ABC5-B4A6-1144-801A-257AA87BF465}" type="pres">
      <dgm:prSet presAssocID="{D87F934C-2F35-47F2-9151-5171708BC2A5}" presName="tx1" presStyleLbl="revTx" presStyleIdx="4" presStyleCnt="5"/>
      <dgm:spPr/>
    </dgm:pt>
    <dgm:pt modelId="{BF78350D-E47C-F847-820B-E025D02DBE6B}" type="pres">
      <dgm:prSet presAssocID="{D87F934C-2F35-47F2-9151-5171708BC2A5}" presName="vert1" presStyleCnt="0"/>
      <dgm:spPr/>
    </dgm:pt>
  </dgm:ptLst>
  <dgm:cxnLst>
    <dgm:cxn modelId="{19880808-6305-1C4A-B5D7-9345E891728A}" type="presOf" srcId="{F2F09457-835B-4A40-ACAE-254451F648B1}" destId="{A83F32A7-B81D-E94F-B2E7-E192416949F1}" srcOrd="0" destOrd="0" presId="urn:microsoft.com/office/officeart/2008/layout/LinedList"/>
    <dgm:cxn modelId="{E26A0912-6BA9-40E6-875C-0023D83B6156}" srcId="{DE0FD004-A19F-4BFC-B68E-CA439C9FB23F}" destId="{F2F09457-835B-4A40-ACAE-254451F648B1}" srcOrd="3" destOrd="0" parTransId="{D8F7BA37-6E43-4F73-A129-004627EE717E}" sibTransId="{1D9588A8-CED9-4DC5-B4C6-0743CA4B70E1}"/>
    <dgm:cxn modelId="{7439B11A-011C-1849-85BB-8706F5991C52}" type="presOf" srcId="{C8177249-795D-475D-9D23-9CC25D64565C}" destId="{24197A69-CA57-5941-BF8F-BB0538D9471C}" srcOrd="0" destOrd="0" presId="urn:microsoft.com/office/officeart/2008/layout/LinedList"/>
    <dgm:cxn modelId="{76145F56-1DAA-CF48-B3F5-7CAB93148066}" type="presOf" srcId="{AEA90445-4318-437E-A2B0-28FA5479DFF0}" destId="{D103A533-BC57-1642-97EB-A3AB9D290AF6}" srcOrd="0" destOrd="0" presId="urn:microsoft.com/office/officeart/2008/layout/LinedList"/>
    <dgm:cxn modelId="{6C9C2682-1193-DA40-AF5D-0859FF8516AF}" type="presOf" srcId="{D87F934C-2F35-47F2-9151-5171708BC2A5}" destId="{3EC8ABC5-B4A6-1144-801A-257AA87BF465}" srcOrd="0" destOrd="0" presId="urn:microsoft.com/office/officeart/2008/layout/LinedList"/>
    <dgm:cxn modelId="{34AAE996-CC92-9244-9611-55274843C2E7}" type="presOf" srcId="{1E18C780-8165-437A-B966-6DA2315EE430}" destId="{E56DE954-8F19-6343-B012-1DB1E577A760}" srcOrd="0" destOrd="0" presId="urn:microsoft.com/office/officeart/2008/layout/LinedList"/>
    <dgm:cxn modelId="{38A21AA1-DCC1-4DC9-9A55-B34972250D01}" srcId="{DE0FD004-A19F-4BFC-B68E-CA439C9FB23F}" destId="{AEA90445-4318-437E-A2B0-28FA5479DFF0}" srcOrd="1" destOrd="0" parTransId="{1E26B47F-86CC-46CF-9A79-03DE10FD2063}" sibTransId="{A8CC7BB3-9039-484F-9B25-19E2B50FA027}"/>
    <dgm:cxn modelId="{B1901DA4-A3B4-4FA0-A0D0-ECFEAC2059A8}" srcId="{DE0FD004-A19F-4BFC-B68E-CA439C9FB23F}" destId="{1E18C780-8165-437A-B966-6DA2315EE430}" srcOrd="0" destOrd="0" parTransId="{A8410BF2-22DD-428A-90E1-DBB57C69B42A}" sibTransId="{5F1CE5A2-9E25-4049-AC88-A760C85C255E}"/>
    <dgm:cxn modelId="{58E146A6-1A76-45E4-AD00-1DA1785C487A}" srcId="{DE0FD004-A19F-4BFC-B68E-CA439C9FB23F}" destId="{D87F934C-2F35-47F2-9151-5171708BC2A5}" srcOrd="4" destOrd="0" parTransId="{F8D7ADC3-E5BE-4038-B702-C4DF695D2B59}" sibTransId="{E01D2516-715A-4D79-A05A-1428FD27C1E4}"/>
    <dgm:cxn modelId="{B5286EC9-3A98-F647-AD07-BB0F473D63CA}" type="presOf" srcId="{DE0FD004-A19F-4BFC-B68E-CA439C9FB23F}" destId="{65C68A4C-8AA9-6147-9DB9-711B5A3D7FBD}" srcOrd="0" destOrd="0" presId="urn:microsoft.com/office/officeart/2008/layout/LinedList"/>
    <dgm:cxn modelId="{20A228E6-7D9C-4AB8-8CAB-5EE1A116706E}" srcId="{DE0FD004-A19F-4BFC-B68E-CA439C9FB23F}" destId="{C8177249-795D-475D-9D23-9CC25D64565C}" srcOrd="2" destOrd="0" parTransId="{566B3326-803C-4057-A381-E55188F74448}" sibTransId="{73285FA3-47D3-40F8-BC2E-174F53AACB0F}"/>
    <dgm:cxn modelId="{B3F3488F-F704-6A40-9D77-91F875078F19}" type="presParOf" srcId="{65C68A4C-8AA9-6147-9DB9-711B5A3D7FBD}" destId="{6B3B01CA-29FF-A94E-BEE4-E316500DCFCF}" srcOrd="0" destOrd="0" presId="urn:microsoft.com/office/officeart/2008/layout/LinedList"/>
    <dgm:cxn modelId="{8BB8A1FC-8929-824E-BF6E-C18DE43094A2}" type="presParOf" srcId="{65C68A4C-8AA9-6147-9DB9-711B5A3D7FBD}" destId="{80A590D5-5646-F547-9185-68A69706F45E}" srcOrd="1" destOrd="0" presId="urn:microsoft.com/office/officeart/2008/layout/LinedList"/>
    <dgm:cxn modelId="{25BF8551-D9BD-984F-B7A2-465881F52E89}" type="presParOf" srcId="{80A590D5-5646-F547-9185-68A69706F45E}" destId="{E56DE954-8F19-6343-B012-1DB1E577A760}" srcOrd="0" destOrd="0" presId="urn:microsoft.com/office/officeart/2008/layout/LinedList"/>
    <dgm:cxn modelId="{4CD0C753-42C8-424D-BAFD-2069F58369FF}" type="presParOf" srcId="{80A590D5-5646-F547-9185-68A69706F45E}" destId="{F91309BA-8749-F244-BDC7-0B443E26FB6F}" srcOrd="1" destOrd="0" presId="urn:microsoft.com/office/officeart/2008/layout/LinedList"/>
    <dgm:cxn modelId="{83A1C3E2-2581-5243-8E9E-4EC2B50B7E63}" type="presParOf" srcId="{65C68A4C-8AA9-6147-9DB9-711B5A3D7FBD}" destId="{F9159CF9-F05E-A549-8AF8-56FA7B1D1E72}" srcOrd="2" destOrd="0" presId="urn:microsoft.com/office/officeart/2008/layout/LinedList"/>
    <dgm:cxn modelId="{98FA3C2F-0996-6949-9285-84304EF4892D}" type="presParOf" srcId="{65C68A4C-8AA9-6147-9DB9-711B5A3D7FBD}" destId="{5B0143C3-3CA8-8541-865D-D930D511ADDB}" srcOrd="3" destOrd="0" presId="urn:microsoft.com/office/officeart/2008/layout/LinedList"/>
    <dgm:cxn modelId="{ABE5A2B3-8119-524E-AE3B-17B0FD6D27D0}" type="presParOf" srcId="{5B0143C3-3CA8-8541-865D-D930D511ADDB}" destId="{D103A533-BC57-1642-97EB-A3AB9D290AF6}" srcOrd="0" destOrd="0" presId="urn:microsoft.com/office/officeart/2008/layout/LinedList"/>
    <dgm:cxn modelId="{744F7AC3-C7E6-6840-8547-884AFA12CFDD}" type="presParOf" srcId="{5B0143C3-3CA8-8541-865D-D930D511ADDB}" destId="{53C923B5-AF11-A545-9560-0234F902871B}" srcOrd="1" destOrd="0" presId="urn:microsoft.com/office/officeart/2008/layout/LinedList"/>
    <dgm:cxn modelId="{D8174B1F-EDEF-B147-9936-FCB87EF90368}" type="presParOf" srcId="{65C68A4C-8AA9-6147-9DB9-711B5A3D7FBD}" destId="{163F5FFD-EC51-9442-B28F-9F5903B2A9CC}" srcOrd="4" destOrd="0" presId="urn:microsoft.com/office/officeart/2008/layout/LinedList"/>
    <dgm:cxn modelId="{DA50F161-A30B-344C-BCCD-CF8137E8ABA5}" type="presParOf" srcId="{65C68A4C-8AA9-6147-9DB9-711B5A3D7FBD}" destId="{9A8DDCBC-5F79-B941-B754-C2DDED314534}" srcOrd="5" destOrd="0" presId="urn:microsoft.com/office/officeart/2008/layout/LinedList"/>
    <dgm:cxn modelId="{AA7AD97E-B6BA-F249-A532-43276FB153CE}" type="presParOf" srcId="{9A8DDCBC-5F79-B941-B754-C2DDED314534}" destId="{24197A69-CA57-5941-BF8F-BB0538D9471C}" srcOrd="0" destOrd="0" presId="urn:microsoft.com/office/officeart/2008/layout/LinedList"/>
    <dgm:cxn modelId="{B1635383-D9F2-EF40-8F37-F6406FD2CF1A}" type="presParOf" srcId="{9A8DDCBC-5F79-B941-B754-C2DDED314534}" destId="{164D28FA-4541-B944-80F1-51E89D80F901}" srcOrd="1" destOrd="0" presId="urn:microsoft.com/office/officeart/2008/layout/LinedList"/>
    <dgm:cxn modelId="{A25FB256-CDF4-664F-89E6-1E29DE0D456E}" type="presParOf" srcId="{65C68A4C-8AA9-6147-9DB9-711B5A3D7FBD}" destId="{F31ECD60-E80F-4540-A9F8-BC5A1FDC77EC}" srcOrd="6" destOrd="0" presId="urn:microsoft.com/office/officeart/2008/layout/LinedList"/>
    <dgm:cxn modelId="{B4FEC176-7854-3647-802D-75C1850571F1}" type="presParOf" srcId="{65C68A4C-8AA9-6147-9DB9-711B5A3D7FBD}" destId="{25604400-A0AE-7B45-B302-2F2C7275BD4C}" srcOrd="7" destOrd="0" presId="urn:microsoft.com/office/officeart/2008/layout/LinedList"/>
    <dgm:cxn modelId="{34C08A55-E877-0045-85F4-8C2C9DC1F910}" type="presParOf" srcId="{25604400-A0AE-7B45-B302-2F2C7275BD4C}" destId="{A83F32A7-B81D-E94F-B2E7-E192416949F1}" srcOrd="0" destOrd="0" presId="urn:microsoft.com/office/officeart/2008/layout/LinedList"/>
    <dgm:cxn modelId="{7CFF465F-5097-4C45-BCE0-FE860ABD0F6A}" type="presParOf" srcId="{25604400-A0AE-7B45-B302-2F2C7275BD4C}" destId="{8DB13679-2695-C84C-B196-5569ACA677EE}" srcOrd="1" destOrd="0" presId="urn:microsoft.com/office/officeart/2008/layout/LinedList"/>
    <dgm:cxn modelId="{C5D621F3-052E-3841-979A-2C98EFF040FE}" type="presParOf" srcId="{65C68A4C-8AA9-6147-9DB9-711B5A3D7FBD}" destId="{0547648B-080A-344C-8AF2-82AAF101BAC1}" srcOrd="8" destOrd="0" presId="urn:microsoft.com/office/officeart/2008/layout/LinedList"/>
    <dgm:cxn modelId="{19DDDBB1-8D6E-BD47-895B-32CBC3C1E6B2}" type="presParOf" srcId="{65C68A4C-8AA9-6147-9DB9-711B5A3D7FBD}" destId="{39686424-AB0E-254A-8293-AC5D44D72245}" srcOrd="9" destOrd="0" presId="urn:microsoft.com/office/officeart/2008/layout/LinedList"/>
    <dgm:cxn modelId="{E5B94DB0-89E4-CB42-8387-D3055F5C3BAF}" type="presParOf" srcId="{39686424-AB0E-254A-8293-AC5D44D72245}" destId="{3EC8ABC5-B4A6-1144-801A-257AA87BF465}" srcOrd="0" destOrd="0" presId="urn:microsoft.com/office/officeart/2008/layout/LinedList"/>
    <dgm:cxn modelId="{C431CDC6-ECFB-5A42-BD04-8B4E6821FE6C}" type="presParOf" srcId="{39686424-AB0E-254A-8293-AC5D44D72245}" destId="{BF78350D-E47C-F847-820B-E025D02DBE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3B01CA-29FF-A94E-BEE4-E316500DCFCF}">
      <dsp:nvSpPr>
        <dsp:cNvPr id="0" name=""/>
        <dsp:cNvSpPr/>
      </dsp:nvSpPr>
      <dsp:spPr>
        <a:xfrm>
          <a:off x="0" y="601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6DE954-8F19-6343-B012-1DB1E577A760}">
      <dsp:nvSpPr>
        <dsp:cNvPr id="0" name=""/>
        <dsp:cNvSpPr/>
      </dsp:nvSpPr>
      <dsp:spPr>
        <a:xfrm>
          <a:off x="0" y="601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Deb paketi haline getirme</a:t>
          </a:r>
          <a:endParaRPr lang="en-US" sz="2800" kern="1200"/>
        </a:p>
      </dsp:txBody>
      <dsp:txXfrm>
        <a:off x="0" y="601"/>
        <a:ext cx="5607050" cy="985279"/>
      </dsp:txXfrm>
    </dsp:sp>
    <dsp:sp modelId="{F9159CF9-F05E-A549-8AF8-56FA7B1D1E72}">
      <dsp:nvSpPr>
        <dsp:cNvPr id="0" name=""/>
        <dsp:cNvSpPr/>
      </dsp:nvSpPr>
      <dsp:spPr>
        <a:xfrm>
          <a:off x="0" y="985880"/>
          <a:ext cx="56070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03A533-BC57-1642-97EB-A3AB9D290AF6}">
      <dsp:nvSpPr>
        <dsp:cNvPr id="0" name=""/>
        <dsp:cNvSpPr/>
      </dsp:nvSpPr>
      <dsp:spPr>
        <a:xfrm>
          <a:off x="0" y="985880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Trivy ve Grype outputları karşılaştırma</a:t>
          </a:r>
          <a:endParaRPr lang="en-US" sz="2800" kern="1200"/>
        </a:p>
      </dsp:txBody>
      <dsp:txXfrm>
        <a:off x="0" y="985880"/>
        <a:ext cx="5607050" cy="985279"/>
      </dsp:txXfrm>
    </dsp:sp>
    <dsp:sp modelId="{163F5FFD-EC51-9442-B28F-9F5903B2A9CC}">
      <dsp:nvSpPr>
        <dsp:cNvPr id="0" name=""/>
        <dsp:cNvSpPr/>
      </dsp:nvSpPr>
      <dsp:spPr>
        <a:xfrm>
          <a:off x="0" y="1971160"/>
          <a:ext cx="5607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197A69-CA57-5941-BF8F-BB0538D9471C}">
      <dsp:nvSpPr>
        <dsp:cNvPr id="0" name=""/>
        <dsp:cNvSpPr/>
      </dsp:nvSpPr>
      <dsp:spPr>
        <a:xfrm>
          <a:off x="0" y="1971160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Genel olarak output analizi</a:t>
          </a:r>
          <a:endParaRPr lang="en-US" sz="2800" kern="1200"/>
        </a:p>
      </dsp:txBody>
      <dsp:txXfrm>
        <a:off x="0" y="1971160"/>
        <a:ext cx="5607050" cy="985279"/>
      </dsp:txXfrm>
    </dsp:sp>
    <dsp:sp modelId="{F31ECD60-E80F-4540-A9F8-BC5A1FDC77EC}">
      <dsp:nvSpPr>
        <dsp:cNvPr id="0" name=""/>
        <dsp:cNvSpPr/>
      </dsp:nvSpPr>
      <dsp:spPr>
        <a:xfrm>
          <a:off x="0" y="2956439"/>
          <a:ext cx="560705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83F32A7-B81D-E94F-B2E7-E192416949F1}">
      <dsp:nvSpPr>
        <dsp:cNvPr id="0" name=""/>
        <dsp:cNvSpPr/>
      </dsp:nvSpPr>
      <dsp:spPr>
        <a:xfrm>
          <a:off x="0" y="2956439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Kyverno ve kubernetes ile zenginleştirme</a:t>
          </a:r>
          <a:endParaRPr lang="en-US" sz="2800" kern="1200"/>
        </a:p>
      </dsp:txBody>
      <dsp:txXfrm>
        <a:off x="0" y="2956439"/>
        <a:ext cx="5607050" cy="985279"/>
      </dsp:txXfrm>
    </dsp:sp>
    <dsp:sp modelId="{0547648B-080A-344C-8AF2-82AAF101BAC1}">
      <dsp:nvSpPr>
        <dsp:cNvPr id="0" name=""/>
        <dsp:cNvSpPr/>
      </dsp:nvSpPr>
      <dsp:spPr>
        <a:xfrm>
          <a:off x="0" y="3941719"/>
          <a:ext cx="560705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C8ABC5-B4A6-1144-801A-257AA87BF465}">
      <dsp:nvSpPr>
        <dsp:cNvPr id="0" name=""/>
        <dsp:cNvSpPr/>
      </dsp:nvSpPr>
      <dsp:spPr>
        <a:xfrm>
          <a:off x="0" y="3941719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Şu anda sadece bir tane file alıyor ama arttırılabilir.</a:t>
          </a:r>
          <a:endParaRPr lang="en-US" sz="2800" kern="1200"/>
        </a:p>
      </dsp:txBody>
      <dsp:txXfrm>
        <a:off x="0" y="3941719"/>
        <a:ext cx="5607050" cy="985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6EFC-158C-42F2-8407-F783C4CFE5B1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E181B-9C56-43CE-8A2E-8DE2541CD28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3273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6EFC-158C-42F2-8407-F783C4CFE5B1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E181B-9C56-43CE-8A2E-8DE2541CD28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472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6EFC-158C-42F2-8407-F783C4CFE5B1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E181B-9C56-43CE-8A2E-8DE2541CD28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707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6EFC-158C-42F2-8407-F783C4CFE5B1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E181B-9C56-43CE-8A2E-8DE2541CD28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186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6EFC-158C-42F2-8407-F783C4CFE5B1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E181B-9C56-43CE-8A2E-8DE2541CD28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545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6EFC-158C-42F2-8407-F783C4CFE5B1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E181B-9C56-43CE-8A2E-8DE2541CD28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4327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6EFC-158C-42F2-8407-F783C4CFE5B1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E181B-9C56-43CE-8A2E-8DE2541CD28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0336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6EFC-158C-42F2-8407-F783C4CFE5B1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tr-T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E181B-9C56-43CE-8A2E-8DE2541CD28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2540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05D6EFC-158C-42F2-8407-F783C4CFE5B1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E181B-9C56-43CE-8A2E-8DE2541CD28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538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6EFC-158C-42F2-8407-F783C4CFE5B1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E181B-9C56-43CE-8A2E-8DE2541CD28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141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6EFC-158C-42F2-8407-F783C4CFE5B1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E181B-9C56-43CE-8A2E-8DE2541CD28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78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05D6EFC-158C-42F2-8407-F783C4CFE5B1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5DE181B-9C56-43CE-8A2E-8DE2541CD28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1779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49E-F57F-6DF1-201E-6E602E3C2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964691"/>
            <a:ext cx="7729728" cy="1188720"/>
          </a:xfrm>
        </p:spPr>
        <p:txBody>
          <a:bodyPr/>
          <a:lstStyle/>
          <a:p>
            <a:r>
              <a:rPr lang="tr-TR" dirty="0" err="1">
                <a:latin typeface="+mn-lt"/>
              </a:rPr>
              <a:t>Pıpesec</a:t>
            </a:r>
            <a:r>
              <a:rPr lang="tr-TR" dirty="0">
                <a:latin typeface="+mn-lt"/>
              </a:rPr>
              <a:t> – </a:t>
            </a:r>
            <a:r>
              <a:rPr lang="tr-TR" dirty="0" err="1">
                <a:latin typeface="+mn-lt"/>
              </a:rPr>
              <a:t>Devsecops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pıpelıne</a:t>
            </a:r>
            <a:endParaRPr lang="tr-TR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D245F-3A59-E73B-4F41-0D04843F9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5" y="2576370"/>
            <a:ext cx="2709798" cy="1188720"/>
          </a:xfrm>
        </p:spPr>
        <p:txBody>
          <a:bodyPr>
            <a:normAutofit/>
          </a:bodyPr>
          <a:lstStyle/>
          <a:p>
            <a:r>
              <a:rPr lang="tr-TR" dirty="0"/>
              <a:t>Efe </a:t>
            </a:r>
            <a:r>
              <a:rPr lang="tr-TR" dirty="0" err="1"/>
              <a:t>Demirçelik</a:t>
            </a:r>
            <a:r>
              <a:rPr lang="tr-TR" dirty="0"/>
              <a:t> – HBT</a:t>
            </a:r>
          </a:p>
          <a:p>
            <a:r>
              <a:rPr lang="tr-TR" dirty="0"/>
              <a:t> Sabancı Üniversitesi</a:t>
            </a:r>
          </a:p>
          <a:p>
            <a:r>
              <a:rPr lang="tr-TR" dirty="0"/>
              <a:t>Bilgisayar Mühendisliği</a:t>
            </a:r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2F3EE59D-DEC1-1D00-7597-FF7872F11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188" y="5121189"/>
            <a:ext cx="3671621" cy="13731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0626BEB-AF86-071C-6A25-FDFF25925AD4}"/>
              </a:ext>
            </a:extLst>
          </p:cNvPr>
          <p:cNvSpPr txBox="1">
            <a:spLocks/>
          </p:cNvSpPr>
          <p:nvPr/>
        </p:nvSpPr>
        <p:spPr>
          <a:xfrm>
            <a:off x="4794245" y="3762736"/>
            <a:ext cx="2603509" cy="42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Mentör</a:t>
            </a:r>
            <a:r>
              <a:rPr lang="tr-TR" dirty="0"/>
              <a:t>: Dora </a:t>
            </a:r>
            <a:r>
              <a:rPr lang="tr-TR" dirty="0" err="1"/>
              <a:t>Uzunsoy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8784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5D883-E4EB-71AE-131B-B4C7CCBF5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16546"/>
            <a:ext cx="7729728" cy="1188720"/>
          </a:xfrm>
        </p:spPr>
        <p:txBody>
          <a:bodyPr/>
          <a:lstStyle/>
          <a:p>
            <a:r>
              <a:rPr lang="tr-TR" dirty="0" err="1"/>
              <a:t>Docker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D4F60-82CA-E43E-B87B-BDD0F28F9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12807"/>
            <a:ext cx="7729728" cy="3101983"/>
          </a:xfrm>
        </p:spPr>
        <p:txBody>
          <a:bodyPr/>
          <a:lstStyle/>
          <a:p>
            <a:r>
              <a:rPr lang="tr-TR" dirty="0"/>
              <a:t>Uygulamaları geliştirmek, dağıtmak ve çalıştırmak için kullanılan bir yazılımdır.</a:t>
            </a:r>
          </a:p>
          <a:p>
            <a:r>
              <a:rPr lang="tr-TR" dirty="0"/>
              <a:t>Uygulamayı çalıştığı altyapıdan ayırarak farklı ortamlarda çalışmasını sağlar.</a:t>
            </a:r>
          </a:p>
          <a:p>
            <a:r>
              <a:rPr lang="tr-TR" dirty="0"/>
              <a:t>Test, dağıtım ve </a:t>
            </a:r>
            <a:r>
              <a:rPr lang="tr-TR" dirty="0" err="1"/>
              <a:t>deployment</a:t>
            </a:r>
            <a:r>
              <a:rPr lang="tr-TR" dirty="0"/>
              <a:t> süreçlerini kolaylaştırır. </a:t>
            </a:r>
          </a:p>
          <a:p>
            <a:r>
              <a:rPr lang="tr-TR" dirty="0" err="1"/>
              <a:t>Docker</a:t>
            </a:r>
            <a:r>
              <a:rPr lang="tr-TR" dirty="0"/>
              <a:t> ortamı:</a:t>
            </a:r>
          </a:p>
          <a:p>
            <a:pPr lvl="1"/>
            <a:r>
              <a:rPr lang="tr-TR" dirty="0" err="1"/>
              <a:t>Dockerfile</a:t>
            </a:r>
            <a:r>
              <a:rPr lang="tr-TR" dirty="0"/>
              <a:t>: </a:t>
            </a:r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image’ın</a:t>
            </a:r>
            <a:r>
              <a:rPr lang="tr-TR" dirty="0"/>
              <a:t> nasıl oluşturulacağını tanımlayan talimat dosyadır.</a:t>
            </a:r>
          </a:p>
          <a:p>
            <a:pPr lvl="1"/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image</a:t>
            </a:r>
            <a:r>
              <a:rPr lang="tr-TR" dirty="0"/>
              <a:t>: Uygulamayı, bağımlılıklarını ve gerekli yapılandırmaları içeren şablondur.</a:t>
            </a:r>
          </a:p>
          <a:p>
            <a:pPr lvl="1"/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container</a:t>
            </a:r>
            <a:r>
              <a:rPr lang="tr-TR" dirty="0"/>
              <a:t>: </a:t>
            </a:r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image’ın</a:t>
            </a:r>
            <a:r>
              <a:rPr lang="tr-TR" dirty="0"/>
              <a:t> çalışan örneğidir.</a:t>
            </a:r>
          </a:p>
          <a:p>
            <a:pPr lvl="1"/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registry</a:t>
            </a:r>
            <a:r>
              <a:rPr lang="tr-TR" dirty="0"/>
              <a:t>: </a:t>
            </a:r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image’ların</a:t>
            </a:r>
            <a:r>
              <a:rPr lang="tr-TR" dirty="0"/>
              <a:t> saklandığı ve dağıtıldığı merkezi sistemdir.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44389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CD45C-0F52-65F8-829B-2FB63A413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Kubernetes</a:t>
            </a:r>
            <a:r>
              <a:rPr lang="tr-TR" dirty="0"/>
              <a:t> (K3s)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E011D-87CA-8065-ECF2-19AE75F21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387199"/>
          </a:xfrm>
        </p:spPr>
        <p:txBody>
          <a:bodyPr>
            <a:normAutofit/>
          </a:bodyPr>
          <a:lstStyle/>
          <a:p>
            <a:r>
              <a:rPr lang="tr-TR" dirty="0" err="1"/>
              <a:t>Kubernetes</a:t>
            </a:r>
            <a:endParaRPr lang="tr-TR" dirty="0"/>
          </a:p>
          <a:p>
            <a:pPr lvl="1"/>
            <a:r>
              <a:rPr lang="tr-TR" dirty="0" err="1"/>
              <a:t>Container</a:t>
            </a:r>
            <a:r>
              <a:rPr lang="tr-TR" dirty="0"/>
              <a:t> tabanlı uygulamaların </a:t>
            </a:r>
            <a:r>
              <a:rPr lang="tr-TR" dirty="0" err="1"/>
              <a:t>deployment</a:t>
            </a:r>
            <a:r>
              <a:rPr lang="tr-TR" dirty="0"/>
              <a:t>, ölçeklendirme ve yönetimini kolaylaştıran platformdur.</a:t>
            </a:r>
          </a:p>
          <a:p>
            <a:pPr lvl="1"/>
            <a:r>
              <a:rPr lang="tr-TR" dirty="0"/>
              <a:t>Hata alan </a:t>
            </a:r>
            <a:r>
              <a:rPr lang="tr-TR" dirty="0" err="1"/>
              <a:t>container’ları</a:t>
            </a:r>
            <a:r>
              <a:rPr lang="tr-TR" dirty="0"/>
              <a:t> yeniden başlatma ve yük dengeleme gibi özellikler sunar.</a:t>
            </a:r>
          </a:p>
          <a:p>
            <a:pPr lvl="1"/>
            <a:r>
              <a:rPr lang="tr-TR" dirty="0"/>
              <a:t>Uygulamaların istenen durumda kalmasını sağlar.</a:t>
            </a:r>
          </a:p>
          <a:p>
            <a:r>
              <a:rPr lang="tr-TR" dirty="0"/>
              <a:t>K3s</a:t>
            </a:r>
          </a:p>
          <a:p>
            <a:pPr lvl="1"/>
            <a:r>
              <a:rPr lang="tr-TR" dirty="0" err="1"/>
              <a:t>Kubernetes’in</a:t>
            </a:r>
            <a:r>
              <a:rPr lang="tr-TR" dirty="0"/>
              <a:t> hafif, kurulumu kolay ve az kaynak tüketen bir dağıtımıdır.</a:t>
            </a:r>
          </a:p>
          <a:p>
            <a:pPr lvl="1"/>
            <a:r>
              <a:rPr lang="tr-TR" dirty="0"/>
              <a:t>Geliştirme, test ve küçük ölçekli ortamlar için uygundur.</a:t>
            </a:r>
          </a:p>
          <a:p>
            <a:pPr lvl="1"/>
            <a:r>
              <a:rPr lang="tr-TR" dirty="0" err="1"/>
              <a:t>PipeSec</a:t>
            </a:r>
            <a:r>
              <a:rPr lang="tr-TR" dirty="0"/>
              <a:t> projesinde Ubuntu VM üzerinde </a:t>
            </a:r>
            <a:r>
              <a:rPr lang="tr-TR" dirty="0" err="1"/>
              <a:t>Kubernetes</a:t>
            </a:r>
            <a:r>
              <a:rPr lang="tr-TR" dirty="0"/>
              <a:t> ortamı oluşturmak için kullanıldı.</a:t>
            </a:r>
          </a:p>
        </p:txBody>
      </p:sp>
    </p:spTree>
    <p:extLst>
      <p:ext uri="{BB962C8B-B14F-4D97-AF65-F5344CB8AC3E}">
        <p14:creationId xmlns:p14="http://schemas.microsoft.com/office/powerpoint/2010/main" val="208536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EADD6-9997-1BA7-8342-86F17EA43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pıpesec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0C525-B8F8-CB17-4401-831D0B83A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Neden </a:t>
            </a:r>
            <a:r>
              <a:rPr lang="tr-TR" dirty="0" err="1"/>
              <a:t>PipeSec’e</a:t>
            </a:r>
            <a:r>
              <a:rPr lang="tr-TR" dirty="0"/>
              <a:t> ihtiyaç var:</a:t>
            </a:r>
          </a:p>
          <a:p>
            <a:pPr lvl="1"/>
            <a:r>
              <a:rPr lang="tr-TR" dirty="0" err="1"/>
              <a:t>Container</a:t>
            </a:r>
            <a:r>
              <a:rPr lang="tr-TR" dirty="0"/>
              <a:t> kullanmak, uygulamayı otomatik olarak güvenli hale getirmez.</a:t>
            </a:r>
          </a:p>
          <a:p>
            <a:pPr lvl="1"/>
            <a:r>
              <a:rPr lang="tr-TR" dirty="0" err="1"/>
              <a:t>Dockerfile</a:t>
            </a:r>
            <a:r>
              <a:rPr lang="tr-TR" dirty="0"/>
              <a:t> yanlış yapılandırmalar içerebilir,  bilinen güvenlik açıkları olabilir.</a:t>
            </a:r>
          </a:p>
          <a:p>
            <a:pPr lvl="1"/>
            <a:r>
              <a:rPr lang="tr-TR" dirty="0" err="1"/>
              <a:t>Image’ın</a:t>
            </a:r>
            <a:r>
              <a:rPr lang="tr-TR" dirty="0"/>
              <a:t> kim tarafından üretildiği veya sonradan değiştirilip değiştirilmediği bilinmeyebilir.</a:t>
            </a:r>
          </a:p>
          <a:p>
            <a:r>
              <a:rPr lang="tr-TR" dirty="0"/>
              <a:t>Amaç:</a:t>
            </a:r>
          </a:p>
          <a:p>
            <a:pPr lvl="1"/>
            <a:r>
              <a:rPr lang="tr-TR" dirty="0"/>
              <a:t>Güvenlik problemlerini olabildiğince erken tespit etmek.</a:t>
            </a:r>
          </a:p>
          <a:p>
            <a:pPr lvl="1"/>
            <a:r>
              <a:rPr lang="tr-TR" dirty="0"/>
              <a:t>Güvensiz veya güvenilirliği doğrulanmamış </a:t>
            </a:r>
            <a:r>
              <a:rPr lang="tr-TR" dirty="0" err="1"/>
              <a:t>image’ları</a:t>
            </a:r>
            <a:r>
              <a:rPr lang="tr-TR" dirty="0"/>
              <a:t> engellemek.</a:t>
            </a:r>
          </a:p>
        </p:txBody>
      </p:sp>
    </p:spTree>
    <p:extLst>
      <p:ext uri="{BB962C8B-B14F-4D97-AF65-F5344CB8AC3E}">
        <p14:creationId xmlns:p14="http://schemas.microsoft.com/office/powerpoint/2010/main" val="427821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re-build-stage-background">
            <a:extLst>
              <a:ext uri="{FF2B5EF4-FFF2-40B4-BE49-F238E27FC236}">
                <a16:creationId xmlns:a16="http://schemas.microsoft.com/office/drawing/2014/main" id="{EB9D8AF3-56C7-4BBD-B393-DB283D4A63CF}"/>
              </a:ext>
            </a:extLst>
          </p:cNvPr>
          <p:cNvSpPr>
            <a:spLocks noGrp="1"/>
          </p:cNvSpPr>
          <p:nvPr/>
        </p:nvSpPr>
        <p:spPr>
          <a:xfrm>
            <a:off x="945521" y="1269206"/>
            <a:ext cx="2057400" cy="3848100"/>
          </a:xfrm>
          <a:prstGeom prst="roundRect">
            <a:avLst>
              <a:gd name="adj" fmla="val 8333"/>
            </a:avLst>
          </a:prstGeom>
          <a:solidFill>
            <a:srgbClr val="EAF6FC"/>
          </a:solidFill>
          <a:ln w="12383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pre-build-accent">
            <a:extLst>
              <a:ext uri="{FF2B5EF4-FFF2-40B4-BE49-F238E27FC236}">
                <a16:creationId xmlns:a16="http://schemas.microsoft.com/office/drawing/2014/main" id="{64DFDD2E-BB26-4EBB-A6B4-90B563F525E8}"/>
              </a:ext>
            </a:extLst>
          </p:cNvPr>
          <p:cNvSpPr>
            <a:spLocks noGrp="1"/>
          </p:cNvSpPr>
          <p:nvPr/>
        </p:nvSpPr>
        <p:spPr>
          <a:xfrm>
            <a:off x="945521" y="1269206"/>
            <a:ext cx="2057400" cy="76200"/>
          </a:xfrm>
          <a:prstGeom prst="rect">
            <a:avLst/>
          </a:prstGeom>
          <a:solidFill>
            <a:srgbClr val="0369A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pre-build-title">
            <a:extLst>
              <a:ext uri="{FF2B5EF4-FFF2-40B4-BE49-F238E27FC236}">
                <a16:creationId xmlns:a16="http://schemas.microsoft.com/office/drawing/2014/main" id="{42F09BF0-444B-49F4-8AF4-B891E069623E}"/>
              </a:ext>
            </a:extLst>
          </p:cNvPr>
          <p:cNvSpPr>
            <a:spLocks noGrp="1"/>
          </p:cNvSpPr>
          <p:nvPr/>
        </p:nvSpPr>
        <p:spPr>
          <a:xfrm>
            <a:off x="1078871" y="1459706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25" b="1">
                <a:solidFill>
                  <a:srgbClr val="0369A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369A1"/>
                </a:solidFill>
                <a:latin typeface="Aptos"/>
                <a:ea typeface="Aptos"/>
                <a:cs typeface="Aptos"/>
              </a:rPr>
              <a:t>PRE-BUILD</a:t>
            </a:r>
          </a:p>
        </p:txBody>
      </p:sp>
      <p:sp>
        <p:nvSpPr>
          <p:cNvPr id="63" name="pre-build-subtitle">
            <a:extLst>
              <a:ext uri="{FF2B5EF4-FFF2-40B4-BE49-F238E27FC236}">
                <a16:creationId xmlns:a16="http://schemas.microsoft.com/office/drawing/2014/main" id="{3FB9974E-EF2B-4000-BDF0-9FB89F92246F}"/>
              </a:ext>
            </a:extLst>
          </p:cNvPr>
          <p:cNvSpPr>
            <a:spLocks noGrp="1"/>
          </p:cNvSpPr>
          <p:nvPr/>
        </p:nvSpPr>
        <p:spPr>
          <a:xfrm>
            <a:off x="1078871" y="1764506"/>
            <a:ext cx="1790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8828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Dockerfile </a:t>
            </a:r>
            <a:r>
              <a:rPr lang="tr-TR"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analizi</a:t>
            </a:r>
            <a:endParaRPr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4" name="build-stage-background">
            <a:extLst>
              <a:ext uri="{FF2B5EF4-FFF2-40B4-BE49-F238E27FC236}">
                <a16:creationId xmlns:a16="http://schemas.microsoft.com/office/drawing/2014/main" id="{15948AA1-16D1-4661-BAF1-B177CDC6B142}"/>
              </a:ext>
            </a:extLst>
          </p:cNvPr>
          <p:cNvSpPr>
            <a:spLocks noGrp="1"/>
          </p:cNvSpPr>
          <p:nvPr/>
        </p:nvSpPr>
        <p:spPr>
          <a:xfrm>
            <a:off x="3098171" y="1269206"/>
            <a:ext cx="1104900" cy="3848100"/>
          </a:xfrm>
          <a:prstGeom prst="roundRect">
            <a:avLst>
              <a:gd name="adj" fmla="val 15517"/>
            </a:avLst>
          </a:prstGeom>
          <a:solidFill>
            <a:srgbClr val="FFF7E6"/>
          </a:solidFill>
          <a:ln w="12383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build-accent">
            <a:extLst>
              <a:ext uri="{FF2B5EF4-FFF2-40B4-BE49-F238E27FC236}">
                <a16:creationId xmlns:a16="http://schemas.microsoft.com/office/drawing/2014/main" id="{D729586B-A047-43C7-8722-3B20D421B44B}"/>
              </a:ext>
            </a:extLst>
          </p:cNvPr>
          <p:cNvSpPr>
            <a:spLocks noGrp="1"/>
          </p:cNvSpPr>
          <p:nvPr/>
        </p:nvSpPr>
        <p:spPr>
          <a:xfrm>
            <a:off x="3098171" y="1269206"/>
            <a:ext cx="1104900" cy="7620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build-title">
            <a:extLst>
              <a:ext uri="{FF2B5EF4-FFF2-40B4-BE49-F238E27FC236}">
                <a16:creationId xmlns:a16="http://schemas.microsoft.com/office/drawing/2014/main" id="{F34D8986-21E4-4349-A208-CBBFBE7FDE67}"/>
              </a:ext>
            </a:extLst>
          </p:cNvPr>
          <p:cNvSpPr>
            <a:spLocks noGrp="1"/>
          </p:cNvSpPr>
          <p:nvPr/>
        </p:nvSpPr>
        <p:spPr>
          <a:xfrm>
            <a:off x="3231521" y="1459706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67" name="build-subtitle">
            <a:extLst>
              <a:ext uri="{FF2B5EF4-FFF2-40B4-BE49-F238E27FC236}">
                <a16:creationId xmlns:a16="http://schemas.microsoft.com/office/drawing/2014/main" id="{47C24E7F-AB9E-4BC0-B8B0-799FF0EB6E8A}"/>
              </a:ext>
            </a:extLst>
          </p:cNvPr>
          <p:cNvSpPr>
            <a:spLocks noGrp="1"/>
          </p:cNvSpPr>
          <p:nvPr/>
        </p:nvSpPr>
        <p:spPr>
          <a:xfrm>
            <a:off x="3231521" y="1764506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778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tr-TR"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Docker</a:t>
            </a:r>
            <a:r>
              <a:rPr lang="tr-TR"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ile </a:t>
            </a:r>
            <a:r>
              <a:rPr lang="tr-TR"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image</a:t>
            </a:r>
            <a:r>
              <a:rPr lang="tr-TR"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lang="tr-TR"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build</a:t>
            </a:r>
            <a:endParaRPr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8" name="post-build-stage-background">
            <a:extLst>
              <a:ext uri="{FF2B5EF4-FFF2-40B4-BE49-F238E27FC236}">
                <a16:creationId xmlns:a16="http://schemas.microsoft.com/office/drawing/2014/main" id="{33542CA7-4BF4-473F-BCEB-2BB922179F14}"/>
              </a:ext>
            </a:extLst>
          </p:cNvPr>
          <p:cNvSpPr>
            <a:spLocks noGrp="1"/>
          </p:cNvSpPr>
          <p:nvPr/>
        </p:nvSpPr>
        <p:spPr>
          <a:xfrm>
            <a:off x="4298321" y="1269206"/>
            <a:ext cx="3009900" cy="3848100"/>
          </a:xfrm>
          <a:prstGeom prst="roundRect">
            <a:avLst>
              <a:gd name="adj" fmla="val 5696"/>
            </a:avLst>
          </a:prstGeom>
          <a:solidFill>
            <a:srgbClr val="F4F0FF"/>
          </a:solidFill>
          <a:ln w="12383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post-build-accent">
            <a:extLst>
              <a:ext uri="{FF2B5EF4-FFF2-40B4-BE49-F238E27FC236}">
                <a16:creationId xmlns:a16="http://schemas.microsoft.com/office/drawing/2014/main" id="{066ECC3C-4238-49B5-8023-293D4AF09C0D}"/>
              </a:ext>
            </a:extLst>
          </p:cNvPr>
          <p:cNvSpPr>
            <a:spLocks noGrp="1"/>
          </p:cNvSpPr>
          <p:nvPr/>
        </p:nvSpPr>
        <p:spPr>
          <a:xfrm>
            <a:off x="4298321" y="1269206"/>
            <a:ext cx="3009900" cy="7620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post-build-title">
            <a:extLst>
              <a:ext uri="{FF2B5EF4-FFF2-40B4-BE49-F238E27FC236}">
                <a16:creationId xmlns:a16="http://schemas.microsoft.com/office/drawing/2014/main" id="{82B19594-83BB-4AEC-B636-8CBE92672EC0}"/>
              </a:ext>
            </a:extLst>
          </p:cNvPr>
          <p:cNvSpPr>
            <a:spLocks noGrp="1"/>
          </p:cNvSpPr>
          <p:nvPr/>
        </p:nvSpPr>
        <p:spPr>
          <a:xfrm>
            <a:off x="4431671" y="1459706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2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POST-BUILD</a:t>
            </a:r>
          </a:p>
        </p:txBody>
      </p:sp>
      <p:sp>
        <p:nvSpPr>
          <p:cNvPr id="71" name="post-build-subtitle">
            <a:extLst>
              <a:ext uri="{FF2B5EF4-FFF2-40B4-BE49-F238E27FC236}">
                <a16:creationId xmlns:a16="http://schemas.microsoft.com/office/drawing/2014/main" id="{7888E862-5949-446C-BB89-0A621E357DB9}"/>
              </a:ext>
            </a:extLst>
          </p:cNvPr>
          <p:cNvSpPr>
            <a:spLocks noGrp="1"/>
          </p:cNvSpPr>
          <p:nvPr/>
        </p:nvSpPr>
        <p:spPr>
          <a:xfrm>
            <a:off x="4431671" y="1764506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SBOM </a:t>
            </a:r>
            <a:r>
              <a:rPr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üretimi</a:t>
            </a: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ve</a:t>
            </a:r>
            <a:endParaRPr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tr-TR"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güvenlik açığı</a:t>
            </a: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analizi</a:t>
            </a:r>
            <a:endParaRPr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2" name="supply-chain-stage-background">
            <a:extLst>
              <a:ext uri="{FF2B5EF4-FFF2-40B4-BE49-F238E27FC236}">
                <a16:creationId xmlns:a16="http://schemas.microsoft.com/office/drawing/2014/main" id="{314B8838-7443-4749-9056-616F543F7439}"/>
              </a:ext>
            </a:extLst>
          </p:cNvPr>
          <p:cNvSpPr>
            <a:spLocks noGrp="1"/>
          </p:cNvSpPr>
          <p:nvPr/>
        </p:nvSpPr>
        <p:spPr>
          <a:xfrm>
            <a:off x="7403471" y="1269206"/>
            <a:ext cx="3810000" cy="3848100"/>
          </a:xfrm>
          <a:prstGeom prst="roundRect">
            <a:avLst>
              <a:gd name="adj" fmla="val 4500"/>
            </a:avLst>
          </a:prstGeom>
          <a:solidFill>
            <a:srgbClr val="ECFDF5"/>
          </a:solidFill>
          <a:ln w="12383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supply-chain-accent">
            <a:extLst>
              <a:ext uri="{FF2B5EF4-FFF2-40B4-BE49-F238E27FC236}">
                <a16:creationId xmlns:a16="http://schemas.microsoft.com/office/drawing/2014/main" id="{EFE9934F-5EFC-458A-AA81-5B904CE3E23B}"/>
              </a:ext>
            </a:extLst>
          </p:cNvPr>
          <p:cNvSpPr>
            <a:spLocks noGrp="1"/>
          </p:cNvSpPr>
          <p:nvPr/>
        </p:nvSpPr>
        <p:spPr>
          <a:xfrm>
            <a:off x="7403471" y="1269206"/>
            <a:ext cx="3810000" cy="76200"/>
          </a:xfrm>
          <a:prstGeom prst="rect">
            <a:avLst/>
          </a:prstGeom>
          <a:solidFill>
            <a:srgbClr val="047857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4" name="supply-chain-title">
            <a:extLst>
              <a:ext uri="{FF2B5EF4-FFF2-40B4-BE49-F238E27FC236}">
                <a16:creationId xmlns:a16="http://schemas.microsoft.com/office/drawing/2014/main" id="{A393E513-289C-45CB-B07B-A47BC3FDD029}"/>
              </a:ext>
            </a:extLst>
          </p:cNvPr>
          <p:cNvSpPr>
            <a:spLocks noGrp="1"/>
          </p:cNvSpPr>
          <p:nvPr/>
        </p:nvSpPr>
        <p:spPr>
          <a:xfrm>
            <a:off x="7536821" y="1459706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SUPPLY CHAIN &amp; ADMISSION</a:t>
            </a:r>
          </a:p>
        </p:txBody>
      </p:sp>
      <p:sp>
        <p:nvSpPr>
          <p:cNvPr id="75" name="supply-chain-subtitle">
            <a:extLst>
              <a:ext uri="{FF2B5EF4-FFF2-40B4-BE49-F238E27FC236}">
                <a16:creationId xmlns:a16="http://schemas.microsoft.com/office/drawing/2014/main" id="{5327A0B0-C4A3-4EAF-8684-4880CC8A0C78}"/>
              </a:ext>
            </a:extLst>
          </p:cNvPr>
          <p:cNvSpPr>
            <a:spLocks noGrp="1"/>
          </p:cNvSpPr>
          <p:nvPr/>
        </p:nvSpPr>
        <p:spPr>
          <a:xfrm>
            <a:off x="7536821" y="1764506"/>
            <a:ext cx="3543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Registry, </a:t>
            </a:r>
            <a:r>
              <a:rPr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imza</a:t>
            </a: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doğrulama</a:t>
            </a: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ve</a:t>
            </a:r>
            <a:endParaRPr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Kubernetes policy enforcement</a:t>
            </a:r>
          </a:p>
        </p:txBody>
      </p:sp>
      <p:sp>
        <p:nvSpPr>
          <p:cNvPr id="76" name="dockerfile-input-anchor">
            <a:extLst>
              <a:ext uri="{FF2B5EF4-FFF2-40B4-BE49-F238E27FC236}">
                <a16:creationId xmlns:a16="http://schemas.microsoft.com/office/drawing/2014/main" id="{18EB71F7-BAA0-44F1-843A-0D15E665C53A}"/>
              </a:ext>
            </a:extLst>
          </p:cNvPr>
          <p:cNvSpPr>
            <a:spLocks noGrp="1"/>
          </p:cNvSpPr>
          <p:nvPr/>
        </p:nvSpPr>
        <p:spPr>
          <a:xfrm>
            <a:off x="381000" y="3000375"/>
            <a:ext cx="102870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hadolint-anchor">
            <a:extLst>
              <a:ext uri="{FF2B5EF4-FFF2-40B4-BE49-F238E27FC236}">
                <a16:creationId xmlns:a16="http://schemas.microsoft.com/office/drawing/2014/main" id="{825FACC9-0C01-413D-9B6D-4888D610D8A1}"/>
              </a:ext>
            </a:extLst>
          </p:cNvPr>
          <p:cNvSpPr>
            <a:spLocks noGrp="1"/>
          </p:cNvSpPr>
          <p:nvPr/>
        </p:nvSpPr>
        <p:spPr>
          <a:xfrm>
            <a:off x="1088396" y="2955131"/>
            <a:ext cx="81915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8" name="trivy-config-anchor">
            <a:extLst>
              <a:ext uri="{FF2B5EF4-FFF2-40B4-BE49-F238E27FC236}">
                <a16:creationId xmlns:a16="http://schemas.microsoft.com/office/drawing/2014/main" id="{ACB5D8C1-9A5C-4D68-8966-D7B80449BAAE}"/>
              </a:ext>
            </a:extLst>
          </p:cNvPr>
          <p:cNvSpPr>
            <a:spLocks noGrp="1"/>
          </p:cNvSpPr>
          <p:nvPr/>
        </p:nvSpPr>
        <p:spPr>
          <a:xfrm>
            <a:off x="2050421" y="2955131"/>
            <a:ext cx="85725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9" name="docker-build-anchor">
            <a:extLst>
              <a:ext uri="{FF2B5EF4-FFF2-40B4-BE49-F238E27FC236}">
                <a16:creationId xmlns:a16="http://schemas.microsoft.com/office/drawing/2014/main" id="{3CD7CF5F-53BB-4033-AE44-BECE02CAA4B8}"/>
              </a:ext>
            </a:extLst>
          </p:cNvPr>
          <p:cNvSpPr>
            <a:spLocks noGrp="1"/>
          </p:cNvSpPr>
          <p:nvPr/>
        </p:nvSpPr>
        <p:spPr>
          <a:xfrm>
            <a:off x="3221996" y="2955131"/>
            <a:ext cx="85725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0" name="syft-anchor">
            <a:extLst>
              <a:ext uri="{FF2B5EF4-FFF2-40B4-BE49-F238E27FC236}">
                <a16:creationId xmlns:a16="http://schemas.microsoft.com/office/drawing/2014/main" id="{061AAC72-C340-4581-AA59-894D8BF4B190}"/>
              </a:ext>
            </a:extLst>
          </p:cNvPr>
          <p:cNvSpPr>
            <a:spLocks noGrp="1"/>
          </p:cNvSpPr>
          <p:nvPr/>
        </p:nvSpPr>
        <p:spPr>
          <a:xfrm>
            <a:off x="4450721" y="2955131"/>
            <a:ext cx="80010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1" name="grype-anchor">
            <a:extLst>
              <a:ext uri="{FF2B5EF4-FFF2-40B4-BE49-F238E27FC236}">
                <a16:creationId xmlns:a16="http://schemas.microsoft.com/office/drawing/2014/main" id="{AE6E1913-B296-448B-AA12-C771131AF182}"/>
              </a:ext>
            </a:extLst>
          </p:cNvPr>
          <p:cNvSpPr>
            <a:spLocks noGrp="1"/>
          </p:cNvSpPr>
          <p:nvPr/>
        </p:nvSpPr>
        <p:spPr>
          <a:xfrm>
            <a:off x="5403221" y="2955131"/>
            <a:ext cx="80010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2" name="trivy-image-anchor">
            <a:extLst>
              <a:ext uri="{FF2B5EF4-FFF2-40B4-BE49-F238E27FC236}">
                <a16:creationId xmlns:a16="http://schemas.microsoft.com/office/drawing/2014/main" id="{54587D8D-0113-4BC0-8A0E-0BE83C323010}"/>
              </a:ext>
            </a:extLst>
          </p:cNvPr>
          <p:cNvSpPr>
            <a:spLocks noGrp="1"/>
          </p:cNvSpPr>
          <p:nvPr/>
        </p:nvSpPr>
        <p:spPr>
          <a:xfrm>
            <a:off x="6355721" y="2955131"/>
            <a:ext cx="83820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3" name="docker-push-anchor">
            <a:extLst>
              <a:ext uri="{FF2B5EF4-FFF2-40B4-BE49-F238E27FC236}">
                <a16:creationId xmlns:a16="http://schemas.microsoft.com/office/drawing/2014/main" id="{51641334-BC04-4AC4-8150-20B0B2693CBA}"/>
              </a:ext>
            </a:extLst>
          </p:cNvPr>
          <p:cNvSpPr>
            <a:spLocks noGrp="1"/>
          </p:cNvSpPr>
          <p:nvPr/>
        </p:nvSpPr>
        <p:spPr>
          <a:xfrm>
            <a:off x="7555871" y="2955131"/>
            <a:ext cx="85725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4" name="cosign-anchor">
            <a:extLst>
              <a:ext uri="{FF2B5EF4-FFF2-40B4-BE49-F238E27FC236}">
                <a16:creationId xmlns:a16="http://schemas.microsoft.com/office/drawing/2014/main" id="{B993BB4B-B50F-4D7D-954D-23A457BEAEF2}"/>
              </a:ext>
            </a:extLst>
          </p:cNvPr>
          <p:cNvSpPr>
            <a:spLocks noGrp="1"/>
          </p:cNvSpPr>
          <p:nvPr/>
        </p:nvSpPr>
        <p:spPr>
          <a:xfrm>
            <a:off x="8603621" y="2955131"/>
            <a:ext cx="102870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5" name="kyverno-anchor">
            <a:extLst>
              <a:ext uri="{FF2B5EF4-FFF2-40B4-BE49-F238E27FC236}">
                <a16:creationId xmlns:a16="http://schemas.microsoft.com/office/drawing/2014/main" id="{84292841-A568-4975-ACE5-58C23DDEF808}"/>
              </a:ext>
            </a:extLst>
          </p:cNvPr>
          <p:cNvSpPr>
            <a:spLocks noGrp="1"/>
          </p:cNvSpPr>
          <p:nvPr/>
        </p:nvSpPr>
        <p:spPr>
          <a:xfrm>
            <a:off x="9822821" y="2955131"/>
            <a:ext cx="118110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6" name="image-input-anchor">
            <a:extLst>
              <a:ext uri="{FF2B5EF4-FFF2-40B4-BE49-F238E27FC236}">
                <a16:creationId xmlns:a16="http://schemas.microsoft.com/office/drawing/2014/main" id="{AD0171FC-514A-4B20-8BBE-1DE74521FEF6}"/>
              </a:ext>
            </a:extLst>
          </p:cNvPr>
          <p:cNvSpPr>
            <a:spLocks noGrp="1"/>
          </p:cNvSpPr>
          <p:nvPr/>
        </p:nvSpPr>
        <p:spPr>
          <a:xfrm>
            <a:off x="381000" y="5372100"/>
            <a:ext cx="1028700" cy="72390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AB5BFD3-3576-7AB9-9CE0-C80EF6ED7D40}"/>
              </a:ext>
            </a:extLst>
          </p:cNvPr>
          <p:cNvCxnSpPr>
            <a:stCxn id="77" idx="3"/>
            <a:endCxn id="78" idx="1"/>
          </p:cNvCxnSpPr>
          <p:nvPr/>
        </p:nvCxnSpPr>
        <p:spPr>
          <a:xfrm>
            <a:off x="1907546" y="3326606"/>
            <a:ext cx="142875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9B62631-512B-8CD1-7A03-B372820105A6}"/>
              </a:ext>
            </a:extLst>
          </p:cNvPr>
          <p:cNvCxnSpPr>
            <a:stCxn id="78" idx="3"/>
            <a:endCxn id="79" idx="1"/>
          </p:cNvCxnSpPr>
          <p:nvPr/>
        </p:nvCxnSpPr>
        <p:spPr>
          <a:xfrm>
            <a:off x="2907671" y="3326606"/>
            <a:ext cx="314325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D9652DA-A1F0-9C79-FD34-6407376FAC28}"/>
              </a:ext>
            </a:extLst>
          </p:cNvPr>
          <p:cNvCxnSpPr>
            <a:stCxn id="79" idx="3"/>
            <a:endCxn id="80" idx="1"/>
          </p:cNvCxnSpPr>
          <p:nvPr/>
        </p:nvCxnSpPr>
        <p:spPr>
          <a:xfrm>
            <a:off x="4079246" y="3326606"/>
            <a:ext cx="371475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DC9C41A-5758-FF11-6A05-F3BE57DF1E05}"/>
              </a:ext>
            </a:extLst>
          </p:cNvPr>
          <p:cNvCxnSpPr>
            <a:stCxn id="80" idx="3"/>
            <a:endCxn id="81" idx="1"/>
          </p:cNvCxnSpPr>
          <p:nvPr/>
        </p:nvCxnSpPr>
        <p:spPr>
          <a:xfrm>
            <a:off x="5250821" y="3326606"/>
            <a:ext cx="152400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B5147C1-4AA1-EC98-118C-FE71F45EE202}"/>
              </a:ext>
            </a:extLst>
          </p:cNvPr>
          <p:cNvCxnSpPr>
            <a:stCxn id="81" idx="3"/>
            <a:endCxn id="82" idx="1"/>
          </p:cNvCxnSpPr>
          <p:nvPr/>
        </p:nvCxnSpPr>
        <p:spPr>
          <a:xfrm>
            <a:off x="6203321" y="3326606"/>
            <a:ext cx="152400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420E3F7-0DF4-8C06-9DE2-A7501A2F0593}"/>
              </a:ext>
            </a:extLst>
          </p:cNvPr>
          <p:cNvCxnSpPr>
            <a:stCxn id="82" idx="3"/>
            <a:endCxn id="83" idx="1"/>
          </p:cNvCxnSpPr>
          <p:nvPr/>
        </p:nvCxnSpPr>
        <p:spPr>
          <a:xfrm>
            <a:off x="7193921" y="3326606"/>
            <a:ext cx="361950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5CDDFAF-DDF3-3490-AEFC-E832DEDD4ADC}"/>
              </a:ext>
            </a:extLst>
          </p:cNvPr>
          <p:cNvCxnSpPr>
            <a:stCxn id="83" idx="3"/>
            <a:endCxn id="84" idx="1"/>
          </p:cNvCxnSpPr>
          <p:nvPr/>
        </p:nvCxnSpPr>
        <p:spPr>
          <a:xfrm>
            <a:off x="8413121" y="3326606"/>
            <a:ext cx="190500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ED460B5-9828-07E7-56D0-4A03CD9AB033}"/>
              </a:ext>
            </a:extLst>
          </p:cNvPr>
          <p:cNvCxnSpPr>
            <a:stCxn id="84" idx="3"/>
            <a:endCxn id="85" idx="1"/>
          </p:cNvCxnSpPr>
          <p:nvPr/>
        </p:nvCxnSpPr>
        <p:spPr>
          <a:xfrm>
            <a:off x="9632321" y="3326606"/>
            <a:ext cx="190500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97" name="dockerfile-input">
            <a:extLst>
              <a:ext uri="{FF2B5EF4-FFF2-40B4-BE49-F238E27FC236}">
                <a16:creationId xmlns:a16="http://schemas.microsoft.com/office/drawing/2014/main" id="{261DAF46-0CA0-4943-90F0-D86ADF491564}"/>
              </a:ext>
            </a:extLst>
          </p:cNvPr>
          <p:cNvSpPr>
            <a:spLocks noGrp="1"/>
          </p:cNvSpPr>
          <p:nvPr/>
        </p:nvSpPr>
        <p:spPr>
          <a:xfrm>
            <a:off x="431171" y="5219700"/>
            <a:ext cx="1028700" cy="742950"/>
          </a:xfrm>
          <a:prstGeom prst="roundRect">
            <a:avLst>
              <a:gd name="adj" fmla="val 19231"/>
            </a:avLst>
          </a:prstGeom>
          <a:solidFill>
            <a:srgbClr val="0369A1"/>
          </a:solidFill>
          <a:ln w="19050">
            <a:solidFill>
              <a:srgbClr val="0369A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GİRİŞ 1</a:t>
            </a:r>
          </a:p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Dockerfile</a:t>
            </a:r>
          </a:p>
        </p:txBody>
      </p:sp>
      <p:sp>
        <p:nvSpPr>
          <p:cNvPr id="98" name="hadolint">
            <a:extLst>
              <a:ext uri="{FF2B5EF4-FFF2-40B4-BE49-F238E27FC236}">
                <a16:creationId xmlns:a16="http://schemas.microsoft.com/office/drawing/2014/main" id="{7C0980E3-F2E8-4139-B932-62EFA7E81602}"/>
              </a:ext>
            </a:extLst>
          </p:cNvPr>
          <p:cNvSpPr>
            <a:spLocks noGrp="1"/>
          </p:cNvSpPr>
          <p:nvPr/>
        </p:nvSpPr>
        <p:spPr>
          <a:xfrm>
            <a:off x="1088396" y="2955131"/>
            <a:ext cx="81915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 fontScale="91397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Hadolint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Lint</a:t>
            </a:r>
          </a:p>
        </p:txBody>
      </p:sp>
      <p:sp>
        <p:nvSpPr>
          <p:cNvPr id="99" name="trivy-config">
            <a:extLst>
              <a:ext uri="{FF2B5EF4-FFF2-40B4-BE49-F238E27FC236}">
                <a16:creationId xmlns:a16="http://schemas.microsoft.com/office/drawing/2014/main" id="{A38888B6-ECA8-47E7-960A-9B0A53C0885A}"/>
              </a:ext>
            </a:extLst>
          </p:cNvPr>
          <p:cNvSpPr>
            <a:spLocks noGrp="1"/>
          </p:cNvSpPr>
          <p:nvPr/>
        </p:nvSpPr>
        <p:spPr>
          <a:xfrm>
            <a:off x="2050421" y="2955131"/>
            <a:ext cx="85725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Trivy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Config</a:t>
            </a:r>
          </a:p>
        </p:txBody>
      </p:sp>
      <p:sp>
        <p:nvSpPr>
          <p:cNvPr id="100" name="docker-build">
            <a:extLst>
              <a:ext uri="{FF2B5EF4-FFF2-40B4-BE49-F238E27FC236}">
                <a16:creationId xmlns:a16="http://schemas.microsoft.com/office/drawing/2014/main" id="{05777285-EFFA-4B9D-B622-10ACFFECD937}"/>
              </a:ext>
            </a:extLst>
          </p:cNvPr>
          <p:cNvSpPr>
            <a:spLocks noGrp="1"/>
          </p:cNvSpPr>
          <p:nvPr/>
        </p:nvSpPr>
        <p:spPr>
          <a:xfrm>
            <a:off x="3221996" y="2955131"/>
            <a:ext cx="85725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Docker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01" name="syft">
            <a:extLst>
              <a:ext uri="{FF2B5EF4-FFF2-40B4-BE49-F238E27FC236}">
                <a16:creationId xmlns:a16="http://schemas.microsoft.com/office/drawing/2014/main" id="{69434EB6-E854-4273-B2A8-327C5B7EAFF9}"/>
              </a:ext>
            </a:extLst>
          </p:cNvPr>
          <p:cNvSpPr>
            <a:spLocks noGrp="1"/>
          </p:cNvSpPr>
          <p:nvPr/>
        </p:nvSpPr>
        <p:spPr>
          <a:xfrm>
            <a:off x="4450721" y="2955131"/>
            <a:ext cx="80010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Syft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SBOM</a:t>
            </a:r>
          </a:p>
        </p:txBody>
      </p:sp>
      <p:sp>
        <p:nvSpPr>
          <p:cNvPr id="102" name="grype">
            <a:extLst>
              <a:ext uri="{FF2B5EF4-FFF2-40B4-BE49-F238E27FC236}">
                <a16:creationId xmlns:a16="http://schemas.microsoft.com/office/drawing/2014/main" id="{DECCDB0D-B3F2-4C20-8322-08D3CF309EBD}"/>
              </a:ext>
            </a:extLst>
          </p:cNvPr>
          <p:cNvSpPr>
            <a:spLocks noGrp="1"/>
          </p:cNvSpPr>
          <p:nvPr/>
        </p:nvSpPr>
        <p:spPr>
          <a:xfrm>
            <a:off x="5403221" y="2955131"/>
            <a:ext cx="80010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Grype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103" name="trivy-image">
            <a:extLst>
              <a:ext uri="{FF2B5EF4-FFF2-40B4-BE49-F238E27FC236}">
                <a16:creationId xmlns:a16="http://schemas.microsoft.com/office/drawing/2014/main" id="{E0E6C0BC-86D5-495F-BC25-204A31C8FDAA}"/>
              </a:ext>
            </a:extLst>
          </p:cNvPr>
          <p:cNvSpPr>
            <a:spLocks noGrp="1"/>
          </p:cNvSpPr>
          <p:nvPr/>
        </p:nvSpPr>
        <p:spPr>
          <a:xfrm>
            <a:off x="6355721" y="2955131"/>
            <a:ext cx="83820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Trivy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104" name="docker-push">
            <a:extLst>
              <a:ext uri="{FF2B5EF4-FFF2-40B4-BE49-F238E27FC236}">
                <a16:creationId xmlns:a16="http://schemas.microsoft.com/office/drawing/2014/main" id="{9C8F916F-2127-4371-8519-310D39252040}"/>
              </a:ext>
            </a:extLst>
          </p:cNvPr>
          <p:cNvSpPr>
            <a:spLocks noGrp="1"/>
          </p:cNvSpPr>
          <p:nvPr/>
        </p:nvSpPr>
        <p:spPr>
          <a:xfrm>
            <a:off x="7555871" y="2955131"/>
            <a:ext cx="85725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Docker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Push</a:t>
            </a:r>
          </a:p>
        </p:txBody>
      </p:sp>
      <p:sp>
        <p:nvSpPr>
          <p:cNvPr id="105" name="cosign">
            <a:extLst>
              <a:ext uri="{FF2B5EF4-FFF2-40B4-BE49-F238E27FC236}">
                <a16:creationId xmlns:a16="http://schemas.microsoft.com/office/drawing/2014/main" id="{5DC857C6-653D-4F5D-B5AA-D28071614C69}"/>
              </a:ext>
            </a:extLst>
          </p:cNvPr>
          <p:cNvSpPr>
            <a:spLocks noGrp="1"/>
          </p:cNvSpPr>
          <p:nvPr/>
        </p:nvSpPr>
        <p:spPr>
          <a:xfrm>
            <a:off x="8603621" y="2955131"/>
            <a:ext cx="102870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 fontScale="95856" lnSpcReduction="10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Cosign</a:t>
            </a:r>
          </a:p>
          <a:p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Sign &amp; Verify</a:t>
            </a:r>
          </a:p>
        </p:txBody>
      </p:sp>
      <p:sp>
        <p:nvSpPr>
          <p:cNvPr id="106" name="kyverno">
            <a:extLst>
              <a:ext uri="{FF2B5EF4-FFF2-40B4-BE49-F238E27FC236}">
                <a16:creationId xmlns:a16="http://schemas.microsoft.com/office/drawing/2014/main" id="{83FE9F50-7760-4969-ABCF-6CC6DEA497D1}"/>
              </a:ext>
            </a:extLst>
          </p:cNvPr>
          <p:cNvSpPr>
            <a:spLocks noGrp="1"/>
          </p:cNvSpPr>
          <p:nvPr/>
        </p:nvSpPr>
        <p:spPr>
          <a:xfrm>
            <a:off x="9822821" y="2955131"/>
            <a:ext cx="118110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Kyverno</a:t>
            </a:r>
          </a:p>
          <a:p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Allow / Reject</a:t>
            </a:r>
          </a:p>
        </p:txBody>
      </p:sp>
      <p:sp>
        <p:nvSpPr>
          <p:cNvPr id="107" name="image-input">
            <a:extLst>
              <a:ext uri="{FF2B5EF4-FFF2-40B4-BE49-F238E27FC236}">
                <a16:creationId xmlns:a16="http://schemas.microsoft.com/office/drawing/2014/main" id="{869D0E84-417A-434D-BD33-6753FEF8B7FC}"/>
              </a:ext>
            </a:extLst>
          </p:cNvPr>
          <p:cNvSpPr>
            <a:spLocks noGrp="1"/>
          </p:cNvSpPr>
          <p:nvPr/>
        </p:nvSpPr>
        <p:spPr>
          <a:xfrm>
            <a:off x="3783971" y="5226844"/>
            <a:ext cx="1028700" cy="723900"/>
          </a:xfrm>
          <a:prstGeom prst="roundRect">
            <a:avLst>
              <a:gd name="adj" fmla="val 19737"/>
            </a:avLst>
          </a:prstGeom>
          <a:solidFill>
            <a:srgbClr val="0E7490"/>
          </a:solidFill>
          <a:ln w="19050">
            <a:solidFill>
              <a:srgbClr val="0E74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 fontScale="9445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GİRİŞ 2</a:t>
            </a:r>
          </a:p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110" name="Title 1">
            <a:extLst>
              <a:ext uri="{FF2B5EF4-FFF2-40B4-BE49-F238E27FC236}">
                <a16:creationId xmlns:a16="http://schemas.microsoft.com/office/drawing/2014/main" id="{DA05A7C7-2E9D-B8B4-A185-1E7EEFB3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723" y="184552"/>
            <a:ext cx="5948553" cy="821528"/>
          </a:xfrm>
        </p:spPr>
        <p:txBody>
          <a:bodyPr/>
          <a:lstStyle/>
          <a:p>
            <a:pPr>
              <a:defRPr sz="31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tr-TR" sz="2800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PIpeSec</a:t>
            </a:r>
            <a:r>
              <a:rPr lang="tr-TR" sz="280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lang="tr-TR" sz="2800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PIpelIne</a:t>
            </a:r>
            <a:r>
              <a:rPr lang="tr-TR" sz="280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Akışı</a:t>
            </a:r>
          </a:p>
        </p:txBody>
      </p:sp>
    </p:spTree>
    <p:extLst>
      <p:ext uri="{BB962C8B-B14F-4D97-AF65-F5344CB8AC3E}">
        <p14:creationId xmlns:p14="http://schemas.microsoft.com/office/powerpoint/2010/main" val="1182932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91296-A143-AB5E-4F08-CAF9491CC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Hadolint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238CC-9915-78BA-585E-1FF0B2D37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Dockerfile’ları analiz eden gelişmiş bir linter aracıdır.</a:t>
            </a:r>
          </a:p>
          <a:p>
            <a:pPr lvl="0"/>
            <a:r>
              <a:rPr lang="en-TR" dirty="0"/>
              <a:t>Best practice kurallarına uygun Docker image’ları oluşturmayı destekler.</a:t>
            </a:r>
          </a:p>
          <a:p>
            <a:pPr lvl="0"/>
            <a:r>
              <a:rPr lang="en-TR" dirty="0"/>
              <a:t>Dockerfile’ı AST’ye (Abstract Syntax Tree) dönüştürür.</a:t>
            </a:r>
          </a:p>
          <a:p>
            <a:pPr lvl="0"/>
            <a:r>
              <a:rPr lang="en-TR" dirty="0"/>
              <a:t>RUN komutlarındaki Bash kodunu ShellCheck ile denetler.</a:t>
            </a:r>
          </a:p>
          <a:p>
            <a:pPr lvl="0"/>
            <a:r>
              <a:rPr lang="en-TR" dirty="0"/>
              <a:t>DLxxxx: Hadolint’in Dockerfile kurallarını gösterir.</a:t>
            </a:r>
          </a:p>
          <a:p>
            <a:pPr lvl="0"/>
            <a:r>
              <a:rPr lang="en-TR" dirty="0"/>
              <a:t>SCxxxx: ShellCheck tarafından RUN komutlarındaki Bash kodunda bulunan sorunları gösterir.</a:t>
            </a:r>
          </a:p>
        </p:txBody>
      </p:sp>
    </p:spTree>
    <p:extLst>
      <p:ext uri="{BB962C8B-B14F-4D97-AF65-F5344CB8AC3E}">
        <p14:creationId xmlns:p14="http://schemas.microsoft.com/office/powerpoint/2010/main" val="16490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907C-329F-A3A4-CC2E-6900A658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82880" tIns="182880" rIns="182880" bIns="182880" rtlCol="0" anchor="ctr">
            <a:normAutofit/>
          </a:bodyPr>
          <a:lstStyle/>
          <a:p>
            <a:r>
              <a:rPr lang="en-US" kern="1200" cap="all" spc="200" baseline="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Hadolint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B39D61-EE5E-96C1-6273-D9F8A0E56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933" b="-2"/>
          <a:stretch>
            <a:fillRect/>
          </a:stretch>
        </p:blipFill>
        <p:spPr>
          <a:xfrm>
            <a:off x="2394204" y="2801671"/>
            <a:ext cx="7397496" cy="277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96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7552-2991-779F-9452-200649AC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Trivy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9C6F5-F49D-74DF-6987-04D6528FB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Trivy, kapsamlı ve çok yönlü bir güvenlik tarayıcısıdır.</a:t>
            </a:r>
          </a:p>
          <a:p>
            <a:r>
              <a:rPr lang="en-TR" dirty="0"/>
              <a:t>Güvenlik problemlerini tespit eden farklı scanner’lara sahiptir.</a:t>
            </a:r>
          </a:p>
          <a:p>
            <a:r>
              <a:rPr lang="tr-TR" dirty="0"/>
              <a:t>Hedef</a:t>
            </a:r>
            <a:r>
              <a:rPr lang="en-TR" dirty="0"/>
              <a:t>: Image, Filesystem, Kubernetes</a:t>
            </a:r>
          </a:p>
          <a:p>
            <a:r>
              <a:rPr lang="tr-TR" dirty="0"/>
              <a:t>Tarayıcı</a:t>
            </a:r>
            <a:r>
              <a:rPr lang="en-TR" dirty="0"/>
              <a:t>: CVEs (Known vulnerabilities), IaC (Infrastructure as Code)</a:t>
            </a:r>
          </a:p>
        </p:txBody>
      </p:sp>
    </p:spTree>
    <p:extLst>
      <p:ext uri="{BB962C8B-B14F-4D97-AF65-F5344CB8AC3E}">
        <p14:creationId xmlns:p14="http://schemas.microsoft.com/office/powerpoint/2010/main" val="1748635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33C53-C822-75B9-CBE2-2B20F1421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01984"/>
            <a:ext cx="7729728" cy="1188720"/>
          </a:xfrm>
        </p:spPr>
        <p:txBody>
          <a:bodyPr/>
          <a:lstStyle/>
          <a:p>
            <a:r>
              <a:rPr lang="tr-TR" dirty="0" err="1"/>
              <a:t>TrIvy</a:t>
            </a:r>
            <a:r>
              <a:rPr lang="tr-TR" dirty="0"/>
              <a:t> </a:t>
            </a:r>
            <a:r>
              <a:rPr lang="tr-TR" dirty="0" err="1"/>
              <a:t>confIg</a:t>
            </a:r>
            <a:endParaRPr lang="tr-TR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882C2E9-93F8-9FE1-B2AB-494813A8F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239" y="1846385"/>
            <a:ext cx="9839521" cy="4326284"/>
          </a:xfrm>
        </p:spPr>
      </p:pic>
    </p:spTree>
    <p:extLst>
      <p:ext uri="{BB962C8B-B14F-4D97-AF65-F5344CB8AC3E}">
        <p14:creationId xmlns:p14="http://schemas.microsoft.com/office/powerpoint/2010/main" val="3789120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A4B94-88E1-E698-9CF6-13652F1D6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31646"/>
            <a:ext cx="7729728" cy="1188720"/>
          </a:xfrm>
        </p:spPr>
        <p:txBody>
          <a:bodyPr/>
          <a:lstStyle/>
          <a:p>
            <a:r>
              <a:rPr lang="tr-TR" dirty="0" err="1"/>
              <a:t>TrIvy</a:t>
            </a:r>
            <a:r>
              <a:rPr lang="tr-TR" dirty="0"/>
              <a:t> Image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F04918-1CA3-28AB-36F2-B895D4958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712" y="1743074"/>
            <a:ext cx="8484576" cy="4270076"/>
          </a:xfrm>
        </p:spPr>
      </p:pic>
    </p:spTree>
    <p:extLst>
      <p:ext uri="{BB962C8B-B14F-4D97-AF65-F5344CB8AC3E}">
        <p14:creationId xmlns:p14="http://schemas.microsoft.com/office/powerpoint/2010/main" val="2940874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E82D2-ED90-D7E3-07D0-481675C8A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3587"/>
            <a:ext cx="7729728" cy="1188720"/>
          </a:xfrm>
        </p:spPr>
        <p:txBody>
          <a:bodyPr/>
          <a:lstStyle/>
          <a:p>
            <a:r>
              <a:rPr lang="tr-TR" dirty="0"/>
              <a:t>SYFT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244F3-A0C1-F639-9555-96D927943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63824"/>
            <a:ext cx="7729728" cy="3101983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Syft</a:t>
            </a:r>
            <a:r>
              <a:rPr lang="en-US" dirty="0">
                <a:solidFill>
                  <a:schemeClr val="tx1"/>
                </a:solidFill>
              </a:rPr>
              <a:t>, container </a:t>
            </a:r>
            <a:r>
              <a:rPr lang="en-US" dirty="0" err="1">
                <a:solidFill>
                  <a:schemeClr val="tx1"/>
                </a:solidFill>
              </a:rPr>
              <a:t>image’lardan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tr-TR" dirty="0">
                <a:solidFill>
                  <a:schemeClr val="tx1"/>
                </a:solidFill>
              </a:rPr>
              <a:t>dosya sistemlerinden</a:t>
            </a:r>
            <a:r>
              <a:rPr lang="en-US" dirty="0">
                <a:solidFill>
                  <a:schemeClr val="tx1"/>
                </a:solidFill>
              </a:rPr>
              <a:t> SBOM </a:t>
            </a:r>
            <a:r>
              <a:rPr lang="en-US" dirty="0" err="1">
                <a:solidFill>
                  <a:schemeClr val="tx1"/>
                </a:solidFill>
              </a:rPr>
              <a:t>üreten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CLI </a:t>
            </a:r>
            <a:r>
              <a:rPr lang="en-US" dirty="0" err="1">
                <a:solidFill>
                  <a:schemeClr val="tx1"/>
                </a:solidFill>
              </a:rPr>
              <a:t>aracı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Go </a:t>
            </a:r>
            <a:r>
              <a:rPr lang="en-US" dirty="0" err="1">
                <a:solidFill>
                  <a:schemeClr val="tx1"/>
                </a:solidFill>
              </a:rPr>
              <a:t>kütüphanesidir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SBOM </a:t>
            </a:r>
            <a:r>
              <a:rPr lang="en-US" dirty="0" err="1">
                <a:solidFill>
                  <a:schemeClr val="tx1"/>
                </a:solidFill>
              </a:rPr>
              <a:t>içerisinde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kullanılan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paketler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bağımlılıklar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sürüm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bilgileri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bulunur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tr-TR" dirty="0">
              <a:solidFill>
                <a:schemeClr val="tx1"/>
              </a:solidFill>
            </a:endParaRPr>
          </a:p>
        </p:txBody>
      </p:sp>
      <p:pic>
        <p:nvPicPr>
          <p:cNvPr id="4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7571D56-C58E-6877-7FC9-BCD5D3163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829" y="2905570"/>
            <a:ext cx="9790342" cy="345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6E4C-A044-37C2-4E6E-44A11D33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38299"/>
            <a:ext cx="7729728" cy="1188720"/>
          </a:xfrm>
        </p:spPr>
        <p:txBody>
          <a:bodyPr/>
          <a:lstStyle/>
          <a:p>
            <a:r>
              <a:rPr lang="tr-TR" dirty="0" err="1"/>
              <a:t>grype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532F1-5F49-7C3C-B65F-518F3DF83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38186"/>
            <a:ext cx="7729728" cy="3101983"/>
          </a:xfrm>
        </p:spPr>
        <p:txBody>
          <a:bodyPr/>
          <a:lstStyle/>
          <a:p>
            <a:r>
              <a:rPr lang="en-TR" dirty="0">
                <a:solidFill>
                  <a:schemeClr val="tx1"/>
                </a:solidFill>
              </a:rPr>
              <a:t>Grype, container image’lar ve </a:t>
            </a:r>
            <a:r>
              <a:rPr lang="tr-TR" dirty="0">
                <a:solidFill>
                  <a:schemeClr val="tx1"/>
                </a:solidFill>
              </a:rPr>
              <a:t>dosya sistemleri</a:t>
            </a:r>
            <a:r>
              <a:rPr lang="en-TR" dirty="0">
                <a:solidFill>
                  <a:schemeClr val="tx1"/>
                </a:solidFill>
              </a:rPr>
              <a:t> için kullanılan bir güvenlik açığı tarayıcısıdır</a:t>
            </a:r>
            <a:r>
              <a:rPr lang="tr-TR" dirty="0">
                <a:solidFill>
                  <a:schemeClr val="tx1"/>
                </a:solidFill>
              </a:rPr>
              <a:t>.</a:t>
            </a:r>
            <a:endParaRPr lang="en-TR" dirty="0">
              <a:solidFill>
                <a:schemeClr val="tx1"/>
              </a:solidFill>
            </a:endParaRPr>
          </a:p>
          <a:p>
            <a:pPr lvl="0"/>
            <a:r>
              <a:rPr lang="en-TR" dirty="0">
                <a:solidFill>
                  <a:schemeClr val="tx1"/>
                </a:solidFill>
              </a:rPr>
              <a:t>Container image’ları, </a:t>
            </a:r>
            <a:r>
              <a:rPr lang="tr-TR" dirty="0">
                <a:solidFill>
                  <a:schemeClr val="tx1"/>
                </a:solidFill>
              </a:rPr>
              <a:t>dosya sistemlerini</a:t>
            </a:r>
            <a:r>
              <a:rPr lang="en-TR" dirty="0">
                <a:solidFill>
                  <a:schemeClr val="tx1"/>
                </a:solidFill>
              </a:rPr>
              <a:t> ve SBOM’ları bilinen güvenlik açıklarına karşı tarar.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TR" dirty="0">
                <a:solidFill>
                  <a:schemeClr val="tx1"/>
                </a:solidFill>
              </a:rPr>
              <a:t>EPSS, KEV ve risk skoru kullanarak güvenlik açıklarının önceliklendirilmesine yardımcı olur.</a:t>
            </a:r>
          </a:p>
        </p:txBody>
      </p:sp>
      <p:pic>
        <p:nvPicPr>
          <p:cNvPr id="4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8B36C64-5F45-00B1-6766-96F138C74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083" y="3639934"/>
            <a:ext cx="8399833" cy="321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73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BFB8-4A63-BF33-E0C9-19A1740DF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/>
              <a:t>COSIGN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34ADC-C46E-D167-2F55-DE7FA1E2B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TR" dirty="0"/>
              <a:t>Cosign, OCI container image’larını ve diğer artifact’ları </a:t>
            </a:r>
            <a:r>
              <a:rPr lang="tr-TR" dirty="0"/>
              <a:t>SHA-256 ve ECDSA algoritmalarını</a:t>
            </a:r>
            <a:r>
              <a:rPr lang="en-TR" dirty="0"/>
              <a:t> kullanarak imzalar.</a:t>
            </a:r>
          </a:p>
          <a:p>
            <a:pPr lvl="0"/>
            <a:r>
              <a:rPr lang="en-TR" dirty="0"/>
              <a:t>Cosign tarafından oluşturulan şifreli private/public key pair ile imzalama yapabilir. (cosign generate-key-pair)</a:t>
            </a:r>
          </a:p>
          <a:p>
            <a:pPr lvl="0"/>
            <a:r>
              <a:rPr lang="en-TR" dirty="0"/>
              <a:t>Container image’larının imzalanmasını, doğrulanmasını ve imzaların OCI registry’de saklanmasını sağlar</a:t>
            </a:r>
          </a:p>
        </p:txBody>
      </p:sp>
    </p:spTree>
    <p:extLst>
      <p:ext uri="{BB962C8B-B14F-4D97-AF65-F5344CB8AC3E}">
        <p14:creationId xmlns:p14="http://schemas.microsoft.com/office/powerpoint/2010/main" val="15836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9A4DD-9E46-0AA8-F87E-91685207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CosIgn</a:t>
            </a:r>
            <a:r>
              <a:rPr lang="tr-TR" dirty="0"/>
              <a:t> </a:t>
            </a:r>
            <a:r>
              <a:rPr lang="tr-TR" dirty="0" err="1"/>
              <a:t>sIgn</a:t>
            </a:r>
            <a:endParaRPr lang="tr-TR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A6A924E-4386-1373-0B59-E00D0018A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188" y="2363471"/>
            <a:ext cx="10181623" cy="3529837"/>
          </a:xfrm>
        </p:spPr>
      </p:pic>
    </p:spTree>
    <p:extLst>
      <p:ext uri="{BB962C8B-B14F-4D97-AF65-F5344CB8AC3E}">
        <p14:creationId xmlns:p14="http://schemas.microsoft.com/office/powerpoint/2010/main" val="2505024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9882-24A2-4E02-B59F-C6135533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CosIgn</a:t>
            </a:r>
            <a:r>
              <a:rPr lang="tr-TR" dirty="0"/>
              <a:t> </a:t>
            </a:r>
            <a:r>
              <a:rPr lang="tr-TR" dirty="0" err="1"/>
              <a:t>verIfy</a:t>
            </a:r>
            <a:endParaRPr lang="tr-TR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BB3E75A-85D4-C34F-83C8-9638235236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15" y="2417884"/>
            <a:ext cx="11693770" cy="3077307"/>
          </a:xfrm>
        </p:spPr>
      </p:pic>
    </p:spTree>
    <p:extLst>
      <p:ext uri="{BB962C8B-B14F-4D97-AF65-F5344CB8AC3E}">
        <p14:creationId xmlns:p14="http://schemas.microsoft.com/office/powerpoint/2010/main" val="2820647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A096E-FC3A-CCAF-D75E-27A9AAEED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Kyverno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C0CFD-5E95-1278-CF23-E5EB939D5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TR" dirty="0"/>
              <a:t>Kyverno, platform engineering ekipleri için geliştirilmiş Kubernetes-native bir policy engine’dir.</a:t>
            </a:r>
          </a:p>
          <a:p>
            <a:pPr lvl="0"/>
            <a:r>
              <a:rPr lang="en-TR" dirty="0"/>
              <a:t>Policy-as-code yaklaşımıyla güvenlik, uyumluluk, otomasyon ve yönetişim sağlar.</a:t>
            </a:r>
          </a:p>
          <a:p>
            <a:pPr lvl="0"/>
            <a:r>
              <a:rPr lang="en-TR" dirty="0"/>
              <a:t>Kubernetes kaynaklarını validate, mutate, generate ve clean up işlemleriyle yönetebilir.</a:t>
            </a:r>
          </a:p>
          <a:p>
            <a:pPr lvl="0"/>
            <a:r>
              <a:rPr lang="en-TR" dirty="0"/>
              <a:t>Supply chain güvenliği için container image imzalarını doğrulayabilir.</a:t>
            </a:r>
          </a:p>
        </p:txBody>
      </p:sp>
    </p:spTree>
    <p:extLst>
      <p:ext uri="{BB962C8B-B14F-4D97-AF65-F5344CB8AC3E}">
        <p14:creationId xmlns:p14="http://schemas.microsoft.com/office/powerpoint/2010/main" val="1397975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5880-9CDD-95BF-08E9-B6E2486D8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Kyverno</a:t>
            </a:r>
            <a:r>
              <a:rPr lang="tr-TR" dirty="0"/>
              <a:t> </a:t>
            </a:r>
            <a:r>
              <a:rPr lang="tr-TR" dirty="0" err="1"/>
              <a:t>sIgn</a:t>
            </a:r>
            <a:endParaRPr lang="tr-TR" dirty="0"/>
          </a:p>
        </p:txBody>
      </p:sp>
      <p:pic>
        <p:nvPicPr>
          <p:cNvPr id="5" name="Content Placeholder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1AE2D3F0-029E-E412-EB9A-5E15630B5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276" y="2549769"/>
            <a:ext cx="10003447" cy="3244361"/>
          </a:xfrm>
        </p:spPr>
      </p:pic>
    </p:spTree>
    <p:extLst>
      <p:ext uri="{BB962C8B-B14F-4D97-AF65-F5344CB8AC3E}">
        <p14:creationId xmlns:p14="http://schemas.microsoft.com/office/powerpoint/2010/main" val="883976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re-build-stage-background">
            <a:extLst>
              <a:ext uri="{FF2B5EF4-FFF2-40B4-BE49-F238E27FC236}">
                <a16:creationId xmlns:a16="http://schemas.microsoft.com/office/drawing/2014/main" id="{EB9D8AF3-56C7-4BBD-B393-DB283D4A63CF}"/>
              </a:ext>
            </a:extLst>
          </p:cNvPr>
          <p:cNvSpPr>
            <a:spLocks noGrp="1"/>
          </p:cNvSpPr>
          <p:nvPr/>
        </p:nvSpPr>
        <p:spPr>
          <a:xfrm>
            <a:off x="945521" y="1269206"/>
            <a:ext cx="2057400" cy="3848100"/>
          </a:xfrm>
          <a:prstGeom prst="roundRect">
            <a:avLst>
              <a:gd name="adj" fmla="val 8333"/>
            </a:avLst>
          </a:prstGeom>
          <a:solidFill>
            <a:srgbClr val="EAF6FC"/>
          </a:solidFill>
          <a:ln w="12383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pre-build-accent">
            <a:extLst>
              <a:ext uri="{FF2B5EF4-FFF2-40B4-BE49-F238E27FC236}">
                <a16:creationId xmlns:a16="http://schemas.microsoft.com/office/drawing/2014/main" id="{64DFDD2E-BB26-4EBB-A6B4-90B563F525E8}"/>
              </a:ext>
            </a:extLst>
          </p:cNvPr>
          <p:cNvSpPr>
            <a:spLocks noGrp="1"/>
          </p:cNvSpPr>
          <p:nvPr/>
        </p:nvSpPr>
        <p:spPr>
          <a:xfrm>
            <a:off x="945521" y="1269206"/>
            <a:ext cx="2057400" cy="76200"/>
          </a:xfrm>
          <a:prstGeom prst="rect">
            <a:avLst/>
          </a:prstGeom>
          <a:solidFill>
            <a:srgbClr val="0369A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pre-build-title">
            <a:extLst>
              <a:ext uri="{FF2B5EF4-FFF2-40B4-BE49-F238E27FC236}">
                <a16:creationId xmlns:a16="http://schemas.microsoft.com/office/drawing/2014/main" id="{42F09BF0-444B-49F4-8AF4-B891E069623E}"/>
              </a:ext>
            </a:extLst>
          </p:cNvPr>
          <p:cNvSpPr>
            <a:spLocks noGrp="1"/>
          </p:cNvSpPr>
          <p:nvPr/>
        </p:nvSpPr>
        <p:spPr>
          <a:xfrm>
            <a:off x="1078871" y="1459706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25" b="1">
                <a:solidFill>
                  <a:srgbClr val="0369A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369A1"/>
                </a:solidFill>
                <a:latin typeface="Aptos"/>
                <a:ea typeface="Aptos"/>
                <a:cs typeface="Aptos"/>
              </a:rPr>
              <a:t>PRE-BUILD</a:t>
            </a:r>
          </a:p>
        </p:txBody>
      </p:sp>
      <p:sp>
        <p:nvSpPr>
          <p:cNvPr id="63" name="pre-build-subtitle">
            <a:extLst>
              <a:ext uri="{FF2B5EF4-FFF2-40B4-BE49-F238E27FC236}">
                <a16:creationId xmlns:a16="http://schemas.microsoft.com/office/drawing/2014/main" id="{3FB9974E-EF2B-4000-BDF0-9FB89F92246F}"/>
              </a:ext>
            </a:extLst>
          </p:cNvPr>
          <p:cNvSpPr>
            <a:spLocks noGrp="1"/>
          </p:cNvSpPr>
          <p:nvPr/>
        </p:nvSpPr>
        <p:spPr>
          <a:xfrm>
            <a:off x="1078871" y="1764506"/>
            <a:ext cx="1790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8828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Dockerfile </a:t>
            </a:r>
            <a:r>
              <a:rPr lang="tr-TR"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analizi</a:t>
            </a:r>
            <a:endParaRPr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4" name="build-stage-background">
            <a:extLst>
              <a:ext uri="{FF2B5EF4-FFF2-40B4-BE49-F238E27FC236}">
                <a16:creationId xmlns:a16="http://schemas.microsoft.com/office/drawing/2014/main" id="{15948AA1-16D1-4661-BAF1-B177CDC6B142}"/>
              </a:ext>
            </a:extLst>
          </p:cNvPr>
          <p:cNvSpPr>
            <a:spLocks noGrp="1"/>
          </p:cNvSpPr>
          <p:nvPr/>
        </p:nvSpPr>
        <p:spPr>
          <a:xfrm>
            <a:off x="3098171" y="1269206"/>
            <a:ext cx="1104900" cy="3848100"/>
          </a:xfrm>
          <a:prstGeom prst="roundRect">
            <a:avLst>
              <a:gd name="adj" fmla="val 15517"/>
            </a:avLst>
          </a:prstGeom>
          <a:solidFill>
            <a:srgbClr val="FFF7E6"/>
          </a:solidFill>
          <a:ln w="12383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build-accent">
            <a:extLst>
              <a:ext uri="{FF2B5EF4-FFF2-40B4-BE49-F238E27FC236}">
                <a16:creationId xmlns:a16="http://schemas.microsoft.com/office/drawing/2014/main" id="{D729586B-A047-43C7-8722-3B20D421B44B}"/>
              </a:ext>
            </a:extLst>
          </p:cNvPr>
          <p:cNvSpPr>
            <a:spLocks noGrp="1"/>
          </p:cNvSpPr>
          <p:nvPr/>
        </p:nvSpPr>
        <p:spPr>
          <a:xfrm>
            <a:off x="3098171" y="1269206"/>
            <a:ext cx="1104900" cy="7620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build-title">
            <a:extLst>
              <a:ext uri="{FF2B5EF4-FFF2-40B4-BE49-F238E27FC236}">
                <a16:creationId xmlns:a16="http://schemas.microsoft.com/office/drawing/2014/main" id="{F34D8986-21E4-4349-A208-CBBFBE7FDE67}"/>
              </a:ext>
            </a:extLst>
          </p:cNvPr>
          <p:cNvSpPr>
            <a:spLocks noGrp="1"/>
          </p:cNvSpPr>
          <p:nvPr/>
        </p:nvSpPr>
        <p:spPr>
          <a:xfrm>
            <a:off x="3231521" y="1459706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67" name="build-subtitle">
            <a:extLst>
              <a:ext uri="{FF2B5EF4-FFF2-40B4-BE49-F238E27FC236}">
                <a16:creationId xmlns:a16="http://schemas.microsoft.com/office/drawing/2014/main" id="{47C24E7F-AB9E-4BC0-B8B0-799FF0EB6E8A}"/>
              </a:ext>
            </a:extLst>
          </p:cNvPr>
          <p:cNvSpPr>
            <a:spLocks noGrp="1"/>
          </p:cNvSpPr>
          <p:nvPr/>
        </p:nvSpPr>
        <p:spPr>
          <a:xfrm>
            <a:off x="3231521" y="1764506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778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tr-TR"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Docker</a:t>
            </a:r>
            <a:r>
              <a:rPr lang="tr-TR"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ile </a:t>
            </a:r>
            <a:r>
              <a:rPr lang="tr-TR"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image</a:t>
            </a:r>
            <a:r>
              <a:rPr lang="tr-TR"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lang="tr-TR"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build</a:t>
            </a:r>
            <a:endParaRPr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8" name="post-build-stage-background">
            <a:extLst>
              <a:ext uri="{FF2B5EF4-FFF2-40B4-BE49-F238E27FC236}">
                <a16:creationId xmlns:a16="http://schemas.microsoft.com/office/drawing/2014/main" id="{33542CA7-4BF4-473F-BCEB-2BB922179F14}"/>
              </a:ext>
            </a:extLst>
          </p:cNvPr>
          <p:cNvSpPr>
            <a:spLocks noGrp="1"/>
          </p:cNvSpPr>
          <p:nvPr/>
        </p:nvSpPr>
        <p:spPr>
          <a:xfrm>
            <a:off x="4298321" y="1269206"/>
            <a:ext cx="3009900" cy="3848100"/>
          </a:xfrm>
          <a:prstGeom prst="roundRect">
            <a:avLst>
              <a:gd name="adj" fmla="val 5696"/>
            </a:avLst>
          </a:prstGeom>
          <a:solidFill>
            <a:srgbClr val="F4F0FF"/>
          </a:solidFill>
          <a:ln w="12383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post-build-accent">
            <a:extLst>
              <a:ext uri="{FF2B5EF4-FFF2-40B4-BE49-F238E27FC236}">
                <a16:creationId xmlns:a16="http://schemas.microsoft.com/office/drawing/2014/main" id="{066ECC3C-4238-49B5-8023-293D4AF09C0D}"/>
              </a:ext>
            </a:extLst>
          </p:cNvPr>
          <p:cNvSpPr>
            <a:spLocks noGrp="1"/>
          </p:cNvSpPr>
          <p:nvPr/>
        </p:nvSpPr>
        <p:spPr>
          <a:xfrm>
            <a:off x="4298321" y="1269206"/>
            <a:ext cx="3009900" cy="7620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post-build-title">
            <a:extLst>
              <a:ext uri="{FF2B5EF4-FFF2-40B4-BE49-F238E27FC236}">
                <a16:creationId xmlns:a16="http://schemas.microsoft.com/office/drawing/2014/main" id="{82B19594-83BB-4AEC-B636-8CBE92672EC0}"/>
              </a:ext>
            </a:extLst>
          </p:cNvPr>
          <p:cNvSpPr>
            <a:spLocks noGrp="1"/>
          </p:cNvSpPr>
          <p:nvPr/>
        </p:nvSpPr>
        <p:spPr>
          <a:xfrm>
            <a:off x="4431671" y="1459706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2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POST-BUILD</a:t>
            </a:r>
          </a:p>
        </p:txBody>
      </p:sp>
      <p:sp>
        <p:nvSpPr>
          <p:cNvPr id="71" name="post-build-subtitle">
            <a:extLst>
              <a:ext uri="{FF2B5EF4-FFF2-40B4-BE49-F238E27FC236}">
                <a16:creationId xmlns:a16="http://schemas.microsoft.com/office/drawing/2014/main" id="{7888E862-5949-446C-BB89-0A621E357DB9}"/>
              </a:ext>
            </a:extLst>
          </p:cNvPr>
          <p:cNvSpPr>
            <a:spLocks noGrp="1"/>
          </p:cNvSpPr>
          <p:nvPr/>
        </p:nvSpPr>
        <p:spPr>
          <a:xfrm>
            <a:off x="4431671" y="1764506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SBOM </a:t>
            </a:r>
            <a:r>
              <a:rPr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üretimi</a:t>
            </a: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ve</a:t>
            </a:r>
            <a:endParaRPr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tr-TR"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güvenlik açığı</a:t>
            </a: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analizi</a:t>
            </a:r>
            <a:endParaRPr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2" name="supply-chain-stage-background">
            <a:extLst>
              <a:ext uri="{FF2B5EF4-FFF2-40B4-BE49-F238E27FC236}">
                <a16:creationId xmlns:a16="http://schemas.microsoft.com/office/drawing/2014/main" id="{314B8838-7443-4749-9056-616F543F7439}"/>
              </a:ext>
            </a:extLst>
          </p:cNvPr>
          <p:cNvSpPr>
            <a:spLocks noGrp="1"/>
          </p:cNvSpPr>
          <p:nvPr/>
        </p:nvSpPr>
        <p:spPr>
          <a:xfrm>
            <a:off x="7403471" y="1269206"/>
            <a:ext cx="3810000" cy="3848100"/>
          </a:xfrm>
          <a:prstGeom prst="roundRect">
            <a:avLst>
              <a:gd name="adj" fmla="val 4500"/>
            </a:avLst>
          </a:prstGeom>
          <a:solidFill>
            <a:srgbClr val="ECFDF5"/>
          </a:solidFill>
          <a:ln w="12383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supply-chain-accent">
            <a:extLst>
              <a:ext uri="{FF2B5EF4-FFF2-40B4-BE49-F238E27FC236}">
                <a16:creationId xmlns:a16="http://schemas.microsoft.com/office/drawing/2014/main" id="{EFE9934F-5EFC-458A-AA81-5B904CE3E23B}"/>
              </a:ext>
            </a:extLst>
          </p:cNvPr>
          <p:cNvSpPr>
            <a:spLocks noGrp="1"/>
          </p:cNvSpPr>
          <p:nvPr/>
        </p:nvSpPr>
        <p:spPr>
          <a:xfrm>
            <a:off x="7403471" y="1269206"/>
            <a:ext cx="3810000" cy="76200"/>
          </a:xfrm>
          <a:prstGeom prst="rect">
            <a:avLst/>
          </a:prstGeom>
          <a:solidFill>
            <a:srgbClr val="047857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4" name="supply-chain-title">
            <a:extLst>
              <a:ext uri="{FF2B5EF4-FFF2-40B4-BE49-F238E27FC236}">
                <a16:creationId xmlns:a16="http://schemas.microsoft.com/office/drawing/2014/main" id="{A393E513-289C-45CB-B07B-A47BC3FDD029}"/>
              </a:ext>
            </a:extLst>
          </p:cNvPr>
          <p:cNvSpPr>
            <a:spLocks noGrp="1"/>
          </p:cNvSpPr>
          <p:nvPr/>
        </p:nvSpPr>
        <p:spPr>
          <a:xfrm>
            <a:off x="7536821" y="1459706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SUPPLY CHAIN &amp; ADMISSION</a:t>
            </a:r>
          </a:p>
        </p:txBody>
      </p:sp>
      <p:sp>
        <p:nvSpPr>
          <p:cNvPr id="75" name="supply-chain-subtitle">
            <a:extLst>
              <a:ext uri="{FF2B5EF4-FFF2-40B4-BE49-F238E27FC236}">
                <a16:creationId xmlns:a16="http://schemas.microsoft.com/office/drawing/2014/main" id="{5327A0B0-C4A3-4EAF-8684-4880CC8A0C78}"/>
              </a:ext>
            </a:extLst>
          </p:cNvPr>
          <p:cNvSpPr>
            <a:spLocks noGrp="1"/>
          </p:cNvSpPr>
          <p:nvPr/>
        </p:nvSpPr>
        <p:spPr>
          <a:xfrm>
            <a:off x="7536821" y="1764506"/>
            <a:ext cx="3543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Registry, </a:t>
            </a:r>
            <a:r>
              <a:rPr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imza</a:t>
            </a: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doğrulama</a:t>
            </a: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ve</a:t>
            </a:r>
            <a:endParaRPr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ctr"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Kubernetes policy enforcement</a:t>
            </a:r>
          </a:p>
        </p:txBody>
      </p:sp>
      <p:sp>
        <p:nvSpPr>
          <p:cNvPr id="76" name="dockerfile-input-anchor">
            <a:extLst>
              <a:ext uri="{FF2B5EF4-FFF2-40B4-BE49-F238E27FC236}">
                <a16:creationId xmlns:a16="http://schemas.microsoft.com/office/drawing/2014/main" id="{18EB71F7-BAA0-44F1-843A-0D15E665C53A}"/>
              </a:ext>
            </a:extLst>
          </p:cNvPr>
          <p:cNvSpPr>
            <a:spLocks noGrp="1"/>
          </p:cNvSpPr>
          <p:nvPr/>
        </p:nvSpPr>
        <p:spPr>
          <a:xfrm>
            <a:off x="381000" y="3000375"/>
            <a:ext cx="102870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hadolint-anchor">
            <a:extLst>
              <a:ext uri="{FF2B5EF4-FFF2-40B4-BE49-F238E27FC236}">
                <a16:creationId xmlns:a16="http://schemas.microsoft.com/office/drawing/2014/main" id="{825FACC9-0C01-413D-9B6D-4888D610D8A1}"/>
              </a:ext>
            </a:extLst>
          </p:cNvPr>
          <p:cNvSpPr>
            <a:spLocks noGrp="1"/>
          </p:cNvSpPr>
          <p:nvPr/>
        </p:nvSpPr>
        <p:spPr>
          <a:xfrm>
            <a:off x="1088396" y="2955131"/>
            <a:ext cx="81915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8" name="trivy-config-anchor">
            <a:extLst>
              <a:ext uri="{FF2B5EF4-FFF2-40B4-BE49-F238E27FC236}">
                <a16:creationId xmlns:a16="http://schemas.microsoft.com/office/drawing/2014/main" id="{ACB5D8C1-9A5C-4D68-8966-D7B80449BAAE}"/>
              </a:ext>
            </a:extLst>
          </p:cNvPr>
          <p:cNvSpPr>
            <a:spLocks noGrp="1"/>
          </p:cNvSpPr>
          <p:nvPr/>
        </p:nvSpPr>
        <p:spPr>
          <a:xfrm>
            <a:off x="2050421" y="2955131"/>
            <a:ext cx="85725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9" name="docker-build-anchor">
            <a:extLst>
              <a:ext uri="{FF2B5EF4-FFF2-40B4-BE49-F238E27FC236}">
                <a16:creationId xmlns:a16="http://schemas.microsoft.com/office/drawing/2014/main" id="{3CD7CF5F-53BB-4033-AE44-BECE02CAA4B8}"/>
              </a:ext>
            </a:extLst>
          </p:cNvPr>
          <p:cNvSpPr>
            <a:spLocks noGrp="1"/>
          </p:cNvSpPr>
          <p:nvPr/>
        </p:nvSpPr>
        <p:spPr>
          <a:xfrm>
            <a:off x="3221996" y="2955131"/>
            <a:ext cx="85725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0" name="syft-anchor">
            <a:extLst>
              <a:ext uri="{FF2B5EF4-FFF2-40B4-BE49-F238E27FC236}">
                <a16:creationId xmlns:a16="http://schemas.microsoft.com/office/drawing/2014/main" id="{061AAC72-C340-4581-AA59-894D8BF4B190}"/>
              </a:ext>
            </a:extLst>
          </p:cNvPr>
          <p:cNvSpPr>
            <a:spLocks noGrp="1"/>
          </p:cNvSpPr>
          <p:nvPr/>
        </p:nvSpPr>
        <p:spPr>
          <a:xfrm>
            <a:off x="4450721" y="2955131"/>
            <a:ext cx="80010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1" name="grype-anchor">
            <a:extLst>
              <a:ext uri="{FF2B5EF4-FFF2-40B4-BE49-F238E27FC236}">
                <a16:creationId xmlns:a16="http://schemas.microsoft.com/office/drawing/2014/main" id="{AE6E1913-B296-448B-AA12-C771131AF182}"/>
              </a:ext>
            </a:extLst>
          </p:cNvPr>
          <p:cNvSpPr>
            <a:spLocks noGrp="1"/>
          </p:cNvSpPr>
          <p:nvPr/>
        </p:nvSpPr>
        <p:spPr>
          <a:xfrm>
            <a:off x="5403221" y="2955131"/>
            <a:ext cx="80010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2" name="trivy-image-anchor">
            <a:extLst>
              <a:ext uri="{FF2B5EF4-FFF2-40B4-BE49-F238E27FC236}">
                <a16:creationId xmlns:a16="http://schemas.microsoft.com/office/drawing/2014/main" id="{54587D8D-0113-4BC0-8A0E-0BE83C323010}"/>
              </a:ext>
            </a:extLst>
          </p:cNvPr>
          <p:cNvSpPr>
            <a:spLocks noGrp="1"/>
          </p:cNvSpPr>
          <p:nvPr/>
        </p:nvSpPr>
        <p:spPr>
          <a:xfrm>
            <a:off x="6355721" y="2955131"/>
            <a:ext cx="83820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3" name="docker-push-anchor">
            <a:extLst>
              <a:ext uri="{FF2B5EF4-FFF2-40B4-BE49-F238E27FC236}">
                <a16:creationId xmlns:a16="http://schemas.microsoft.com/office/drawing/2014/main" id="{51641334-BC04-4AC4-8150-20B0B2693CBA}"/>
              </a:ext>
            </a:extLst>
          </p:cNvPr>
          <p:cNvSpPr>
            <a:spLocks noGrp="1"/>
          </p:cNvSpPr>
          <p:nvPr/>
        </p:nvSpPr>
        <p:spPr>
          <a:xfrm>
            <a:off x="7555871" y="2955131"/>
            <a:ext cx="85725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4" name="cosign-anchor">
            <a:extLst>
              <a:ext uri="{FF2B5EF4-FFF2-40B4-BE49-F238E27FC236}">
                <a16:creationId xmlns:a16="http://schemas.microsoft.com/office/drawing/2014/main" id="{B993BB4B-B50F-4D7D-954D-23A457BEAEF2}"/>
              </a:ext>
            </a:extLst>
          </p:cNvPr>
          <p:cNvSpPr>
            <a:spLocks noGrp="1"/>
          </p:cNvSpPr>
          <p:nvPr/>
        </p:nvSpPr>
        <p:spPr>
          <a:xfrm>
            <a:off x="8603621" y="2955131"/>
            <a:ext cx="102870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5" name="kyverno-anchor">
            <a:extLst>
              <a:ext uri="{FF2B5EF4-FFF2-40B4-BE49-F238E27FC236}">
                <a16:creationId xmlns:a16="http://schemas.microsoft.com/office/drawing/2014/main" id="{84292841-A568-4975-ACE5-58C23DDEF808}"/>
              </a:ext>
            </a:extLst>
          </p:cNvPr>
          <p:cNvSpPr>
            <a:spLocks noGrp="1"/>
          </p:cNvSpPr>
          <p:nvPr/>
        </p:nvSpPr>
        <p:spPr>
          <a:xfrm>
            <a:off x="9822821" y="2955131"/>
            <a:ext cx="1181100" cy="742950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6" name="image-input-anchor">
            <a:extLst>
              <a:ext uri="{FF2B5EF4-FFF2-40B4-BE49-F238E27FC236}">
                <a16:creationId xmlns:a16="http://schemas.microsoft.com/office/drawing/2014/main" id="{AD0171FC-514A-4B20-8BBE-1DE74521FEF6}"/>
              </a:ext>
            </a:extLst>
          </p:cNvPr>
          <p:cNvSpPr>
            <a:spLocks noGrp="1"/>
          </p:cNvSpPr>
          <p:nvPr/>
        </p:nvSpPr>
        <p:spPr>
          <a:xfrm>
            <a:off x="381000" y="5372100"/>
            <a:ext cx="1028700" cy="72390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AB5BFD3-3576-7AB9-9CE0-C80EF6ED7D40}"/>
              </a:ext>
            </a:extLst>
          </p:cNvPr>
          <p:cNvCxnSpPr>
            <a:stCxn id="77" idx="3"/>
            <a:endCxn id="78" idx="1"/>
          </p:cNvCxnSpPr>
          <p:nvPr/>
        </p:nvCxnSpPr>
        <p:spPr>
          <a:xfrm>
            <a:off x="1907546" y="3326606"/>
            <a:ext cx="142875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9B62631-512B-8CD1-7A03-B372820105A6}"/>
              </a:ext>
            </a:extLst>
          </p:cNvPr>
          <p:cNvCxnSpPr>
            <a:stCxn id="78" idx="3"/>
            <a:endCxn id="79" idx="1"/>
          </p:cNvCxnSpPr>
          <p:nvPr/>
        </p:nvCxnSpPr>
        <p:spPr>
          <a:xfrm>
            <a:off x="2907671" y="3326606"/>
            <a:ext cx="314325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D9652DA-A1F0-9C79-FD34-6407376FAC28}"/>
              </a:ext>
            </a:extLst>
          </p:cNvPr>
          <p:cNvCxnSpPr>
            <a:stCxn id="79" idx="3"/>
            <a:endCxn id="80" idx="1"/>
          </p:cNvCxnSpPr>
          <p:nvPr/>
        </p:nvCxnSpPr>
        <p:spPr>
          <a:xfrm>
            <a:off x="4079246" y="3326606"/>
            <a:ext cx="371475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DC9C41A-5758-FF11-6A05-F3BE57DF1E05}"/>
              </a:ext>
            </a:extLst>
          </p:cNvPr>
          <p:cNvCxnSpPr>
            <a:stCxn id="80" idx="3"/>
            <a:endCxn id="81" idx="1"/>
          </p:cNvCxnSpPr>
          <p:nvPr/>
        </p:nvCxnSpPr>
        <p:spPr>
          <a:xfrm>
            <a:off x="5250821" y="3326606"/>
            <a:ext cx="152400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B5147C1-4AA1-EC98-118C-FE71F45EE202}"/>
              </a:ext>
            </a:extLst>
          </p:cNvPr>
          <p:cNvCxnSpPr>
            <a:stCxn id="81" idx="3"/>
            <a:endCxn id="82" idx="1"/>
          </p:cNvCxnSpPr>
          <p:nvPr/>
        </p:nvCxnSpPr>
        <p:spPr>
          <a:xfrm>
            <a:off x="6203321" y="3326606"/>
            <a:ext cx="152400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420E3F7-0DF4-8C06-9DE2-A7501A2F0593}"/>
              </a:ext>
            </a:extLst>
          </p:cNvPr>
          <p:cNvCxnSpPr>
            <a:stCxn id="82" idx="3"/>
            <a:endCxn id="83" idx="1"/>
          </p:cNvCxnSpPr>
          <p:nvPr/>
        </p:nvCxnSpPr>
        <p:spPr>
          <a:xfrm>
            <a:off x="7193921" y="3326606"/>
            <a:ext cx="361950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5CDDFAF-DDF3-3490-AEFC-E832DEDD4ADC}"/>
              </a:ext>
            </a:extLst>
          </p:cNvPr>
          <p:cNvCxnSpPr>
            <a:stCxn id="83" idx="3"/>
            <a:endCxn id="84" idx="1"/>
          </p:cNvCxnSpPr>
          <p:nvPr/>
        </p:nvCxnSpPr>
        <p:spPr>
          <a:xfrm>
            <a:off x="8413121" y="3326606"/>
            <a:ext cx="190500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ED460B5-9828-07E7-56D0-4A03CD9AB033}"/>
              </a:ext>
            </a:extLst>
          </p:cNvPr>
          <p:cNvCxnSpPr>
            <a:stCxn id="84" idx="3"/>
            <a:endCxn id="85" idx="1"/>
          </p:cNvCxnSpPr>
          <p:nvPr/>
        </p:nvCxnSpPr>
        <p:spPr>
          <a:xfrm>
            <a:off x="9632321" y="3326606"/>
            <a:ext cx="190500" cy="0"/>
          </a:xfrm>
          <a:prstGeom prst="straightConnector1">
            <a:avLst/>
          </a:prstGeom>
          <a:ln w="23813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97" name="dockerfile-input">
            <a:extLst>
              <a:ext uri="{FF2B5EF4-FFF2-40B4-BE49-F238E27FC236}">
                <a16:creationId xmlns:a16="http://schemas.microsoft.com/office/drawing/2014/main" id="{261DAF46-0CA0-4943-90F0-D86ADF491564}"/>
              </a:ext>
            </a:extLst>
          </p:cNvPr>
          <p:cNvSpPr>
            <a:spLocks noGrp="1"/>
          </p:cNvSpPr>
          <p:nvPr/>
        </p:nvSpPr>
        <p:spPr>
          <a:xfrm>
            <a:off x="431171" y="5219700"/>
            <a:ext cx="1028700" cy="742950"/>
          </a:xfrm>
          <a:prstGeom prst="roundRect">
            <a:avLst>
              <a:gd name="adj" fmla="val 19231"/>
            </a:avLst>
          </a:prstGeom>
          <a:solidFill>
            <a:srgbClr val="0369A1"/>
          </a:solidFill>
          <a:ln w="19050">
            <a:solidFill>
              <a:srgbClr val="0369A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GİRİŞ 1</a:t>
            </a:r>
          </a:p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Dockerfile</a:t>
            </a:r>
          </a:p>
        </p:txBody>
      </p:sp>
      <p:sp>
        <p:nvSpPr>
          <p:cNvPr id="98" name="hadolint">
            <a:extLst>
              <a:ext uri="{FF2B5EF4-FFF2-40B4-BE49-F238E27FC236}">
                <a16:creationId xmlns:a16="http://schemas.microsoft.com/office/drawing/2014/main" id="{7C0980E3-F2E8-4139-B932-62EFA7E81602}"/>
              </a:ext>
            </a:extLst>
          </p:cNvPr>
          <p:cNvSpPr>
            <a:spLocks noGrp="1"/>
          </p:cNvSpPr>
          <p:nvPr/>
        </p:nvSpPr>
        <p:spPr>
          <a:xfrm>
            <a:off x="1088396" y="2955131"/>
            <a:ext cx="81915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 fontScale="91397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Hadolint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Lint</a:t>
            </a:r>
          </a:p>
        </p:txBody>
      </p:sp>
      <p:sp>
        <p:nvSpPr>
          <p:cNvPr id="99" name="trivy-config">
            <a:extLst>
              <a:ext uri="{FF2B5EF4-FFF2-40B4-BE49-F238E27FC236}">
                <a16:creationId xmlns:a16="http://schemas.microsoft.com/office/drawing/2014/main" id="{A38888B6-ECA8-47E7-960A-9B0A53C0885A}"/>
              </a:ext>
            </a:extLst>
          </p:cNvPr>
          <p:cNvSpPr>
            <a:spLocks noGrp="1"/>
          </p:cNvSpPr>
          <p:nvPr/>
        </p:nvSpPr>
        <p:spPr>
          <a:xfrm>
            <a:off x="2050421" y="2955131"/>
            <a:ext cx="85725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Trivy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Config</a:t>
            </a:r>
          </a:p>
        </p:txBody>
      </p:sp>
      <p:sp>
        <p:nvSpPr>
          <p:cNvPr id="100" name="docker-build">
            <a:extLst>
              <a:ext uri="{FF2B5EF4-FFF2-40B4-BE49-F238E27FC236}">
                <a16:creationId xmlns:a16="http://schemas.microsoft.com/office/drawing/2014/main" id="{05777285-EFFA-4B9D-B622-10ACFFECD937}"/>
              </a:ext>
            </a:extLst>
          </p:cNvPr>
          <p:cNvSpPr>
            <a:spLocks noGrp="1"/>
          </p:cNvSpPr>
          <p:nvPr/>
        </p:nvSpPr>
        <p:spPr>
          <a:xfrm>
            <a:off x="3221996" y="2955131"/>
            <a:ext cx="85725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Docker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01" name="syft">
            <a:extLst>
              <a:ext uri="{FF2B5EF4-FFF2-40B4-BE49-F238E27FC236}">
                <a16:creationId xmlns:a16="http://schemas.microsoft.com/office/drawing/2014/main" id="{69434EB6-E854-4273-B2A8-327C5B7EAFF9}"/>
              </a:ext>
            </a:extLst>
          </p:cNvPr>
          <p:cNvSpPr>
            <a:spLocks noGrp="1"/>
          </p:cNvSpPr>
          <p:nvPr/>
        </p:nvSpPr>
        <p:spPr>
          <a:xfrm>
            <a:off x="4450721" y="2955131"/>
            <a:ext cx="80010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Syft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SBOM</a:t>
            </a:r>
          </a:p>
        </p:txBody>
      </p:sp>
      <p:sp>
        <p:nvSpPr>
          <p:cNvPr id="102" name="grype">
            <a:extLst>
              <a:ext uri="{FF2B5EF4-FFF2-40B4-BE49-F238E27FC236}">
                <a16:creationId xmlns:a16="http://schemas.microsoft.com/office/drawing/2014/main" id="{DECCDB0D-B3F2-4C20-8322-08D3CF309EBD}"/>
              </a:ext>
            </a:extLst>
          </p:cNvPr>
          <p:cNvSpPr>
            <a:spLocks noGrp="1"/>
          </p:cNvSpPr>
          <p:nvPr/>
        </p:nvSpPr>
        <p:spPr>
          <a:xfrm>
            <a:off x="5403221" y="2955131"/>
            <a:ext cx="80010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Grype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103" name="trivy-image">
            <a:extLst>
              <a:ext uri="{FF2B5EF4-FFF2-40B4-BE49-F238E27FC236}">
                <a16:creationId xmlns:a16="http://schemas.microsoft.com/office/drawing/2014/main" id="{E0E6C0BC-86D5-495F-BC25-204A31C8FDAA}"/>
              </a:ext>
            </a:extLst>
          </p:cNvPr>
          <p:cNvSpPr>
            <a:spLocks noGrp="1"/>
          </p:cNvSpPr>
          <p:nvPr/>
        </p:nvSpPr>
        <p:spPr>
          <a:xfrm>
            <a:off x="6355721" y="2955131"/>
            <a:ext cx="83820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Trivy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104" name="docker-push">
            <a:extLst>
              <a:ext uri="{FF2B5EF4-FFF2-40B4-BE49-F238E27FC236}">
                <a16:creationId xmlns:a16="http://schemas.microsoft.com/office/drawing/2014/main" id="{9C8F916F-2127-4371-8519-310D39252040}"/>
              </a:ext>
            </a:extLst>
          </p:cNvPr>
          <p:cNvSpPr>
            <a:spLocks noGrp="1"/>
          </p:cNvSpPr>
          <p:nvPr/>
        </p:nvSpPr>
        <p:spPr>
          <a:xfrm>
            <a:off x="7555871" y="2955131"/>
            <a:ext cx="85725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Docker</a:t>
            </a:r>
          </a:p>
          <a:p>
            <a:pPr algn="ctr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Push</a:t>
            </a:r>
          </a:p>
        </p:txBody>
      </p:sp>
      <p:sp>
        <p:nvSpPr>
          <p:cNvPr id="105" name="cosign">
            <a:extLst>
              <a:ext uri="{FF2B5EF4-FFF2-40B4-BE49-F238E27FC236}">
                <a16:creationId xmlns:a16="http://schemas.microsoft.com/office/drawing/2014/main" id="{5DC857C6-653D-4F5D-B5AA-D28071614C69}"/>
              </a:ext>
            </a:extLst>
          </p:cNvPr>
          <p:cNvSpPr>
            <a:spLocks noGrp="1"/>
          </p:cNvSpPr>
          <p:nvPr/>
        </p:nvSpPr>
        <p:spPr>
          <a:xfrm>
            <a:off x="8603621" y="2955131"/>
            <a:ext cx="102870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 fontScale="95856" lnSpcReduction="10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Cosign</a:t>
            </a:r>
          </a:p>
          <a:p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Sign &amp; Verify</a:t>
            </a:r>
          </a:p>
        </p:txBody>
      </p:sp>
      <p:sp>
        <p:nvSpPr>
          <p:cNvPr id="106" name="kyverno">
            <a:extLst>
              <a:ext uri="{FF2B5EF4-FFF2-40B4-BE49-F238E27FC236}">
                <a16:creationId xmlns:a16="http://schemas.microsoft.com/office/drawing/2014/main" id="{83FE9F50-7760-4969-ABCF-6CC6DEA497D1}"/>
              </a:ext>
            </a:extLst>
          </p:cNvPr>
          <p:cNvSpPr>
            <a:spLocks noGrp="1"/>
          </p:cNvSpPr>
          <p:nvPr/>
        </p:nvSpPr>
        <p:spPr>
          <a:xfrm>
            <a:off x="9822821" y="2955131"/>
            <a:ext cx="1181100" cy="7429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Kyverno</a:t>
            </a:r>
          </a:p>
          <a:p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Allow / Reject</a:t>
            </a:r>
          </a:p>
        </p:txBody>
      </p:sp>
      <p:sp>
        <p:nvSpPr>
          <p:cNvPr id="107" name="image-input">
            <a:extLst>
              <a:ext uri="{FF2B5EF4-FFF2-40B4-BE49-F238E27FC236}">
                <a16:creationId xmlns:a16="http://schemas.microsoft.com/office/drawing/2014/main" id="{869D0E84-417A-434D-BD33-6753FEF8B7FC}"/>
              </a:ext>
            </a:extLst>
          </p:cNvPr>
          <p:cNvSpPr>
            <a:spLocks noGrp="1"/>
          </p:cNvSpPr>
          <p:nvPr/>
        </p:nvSpPr>
        <p:spPr>
          <a:xfrm>
            <a:off x="3783971" y="5226844"/>
            <a:ext cx="1028700" cy="723900"/>
          </a:xfrm>
          <a:prstGeom prst="roundRect">
            <a:avLst>
              <a:gd name="adj" fmla="val 19737"/>
            </a:avLst>
          </a:prstGeom>
          <a:solidFill>
            <a:srgbClr val="0E7490"/>
          </a:solidFill>
          <a:ln w="19050">
            <a:solidFill>
              <a:srgbClr val="0E74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47625" tIns="66675" rIns="47625" bIns="66675" anchor="ctr">
            <a:normAutofit fontScale="9445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GİRİŞ 2</a:t>
            </a:r>
          </a:p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110" name="Title 1">
            <a:extLst>
              <a:ext uri="{FF2B5EF4-FFF2-40B4-BE49-F238E27FC236}">
                <a16:creationId xmlns:a16="http://schemas.microsoft.com/office/drawing/2014/main" id="{DA05A7C7-2E9D-B8B4-A185-1E7EEFB3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723" y="184552"/>
            <a:ext cx="5948553" cy="821528"/>
          </a:xfrm>
        </p:spPr>
        <p:txBody>
          <a:bodyPr/>
          <a:lstStyle/>
          <a:p>
            <a:pPr>
              <a:defRPr sz="31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tr-TR" sz="2800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PIpeSec</a:t>
            </a:r>
            <a:r>
              <a:rPr lang="tr-TR" sz="280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lang="tr-TR" sz="2800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PIpelIne</a:t>
            </a:r>
            <a:r>
              <a:rPr lang="tr-TR" sz="280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Akışı</a:t>
            </a:r>
          </a:p>
        </p:txBody>
      </p:sp>
    </p:spTree>
    <p:extLst>
      <p:ext uri="{BB962C8B-B14F-4D97-AF65-F5344CB8AC3E}">
        <p14:creationId xmlns:p14="http://schemas.microsoft.com/office/powerpoint/2010/main" val="282808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984A2-1475-92F0-C66F-477010B09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Dİzayn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29EA46-69D1-DAD5-8538-FD28BD2073C6}"/>
              </a:ext>
            </a:extLst>
          </p:cNvPr>
          <p:cNvSpPr txBox="1"/>
          <p:nvPr/>
        </p:nvSpPr>
        <p:spPr>
          <a:xfrm>
            <a:off x="2901054" y="2593028"/>
            <a:ext cx="638989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PipeSec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│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├─ pipeline.sh          Ana pipeline </a:t>
            </a:r>
            <a:r>
              <a:rPr lang="tr-TR" dirty="0">
                <a:latin typeface="Consolas" panose="020B0609020204030204" pitchFamily="49" charset="0"/>
                <a:cs typeface="Consolas" panose="020B0609020204030204" pitchFamily="49" charset="0"/>
              </a:rPr>
              <a:t>betiği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│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├─ scripts/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│  ├─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installation.sh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Tool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kurulumları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│  ├─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lib.sh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Pipeline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fonksiyonları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│  └─ pipeline-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cli.sh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CLI argument parser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│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├─ keys/                Cosign private/public key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├─ reports/             Log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tarama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raporları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└─ policies/    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Kyverno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policy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dosyaları</a:t>
            </a:r>
            <a:endParaRPr lang="en-T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414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B682-C247-C981-C195-73A317048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tr-TR" b="1" dirty="0">
                <a:solidFill>
                  <a:schemeClr val="tx1"/>
                </a:solidFill>
              </a:rPr>
              <a:t>Geliştirme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8331EE-3790-21CD-D488-A86039E236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8581987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6098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E68DD-3857-1B95-5BCD-71D35C022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tr-TR" dirty="0"/>
              <a:t>Dinlediğiniz için teşekkürler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5AA6BEA2-3D1A-7125-25E1-2B2684B53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189" y="5172705"/>
            <a:ext cx="3671621" cy="13731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226687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Sunum0-restored</Template>
  <TotalTime>311</TotalTime>
  <Words>679</Words>
  <Application>Microsoft Office PowerPoint</Application>
  <PresentationFormat>Widescreen</PresentationFormat>
  <Paragraphs>151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Consolas</vt:lpstr>
      <vt:lpstr>Gill Sans MT</vt:lpstr>
      <vt:lpstr>Parcel</vt:lpstr>
      <vt:lpstr>Pıpesec – Devsecops pıpelıne</vt:lpstr>
      <vt:lpstr>Docker</vt:lpstr>
      <vt:lpstr>Kubernetes (K3s)</vt:lpstr>
      <vt:lpstr>pıpesec</vt:lpstr>
      <vt:lpstr>PIpeSec PIpelIne Akışı</vt:lpstr>
      <vt:lpstr>Hadolint</vt:lpstr>
      <vt:lpstr>Hadolint</vt:lpstr>
      <vt:lpstr>Trivy</vt:lpstr>
      <vt:lpstr>TrIvy confIg</vt:lpstr>
      <vt:lpstr>TrIvy Image</vt:lpstr>
      <vt:lpstr>SYFT</vt:lpstr>
      <vt:lpstr>grype</vt:lpstr>
      <vt:lpstr>COSIGN</vt:lpstr>
      <vt:lpstr>CosIgn sIgn</vt:lpstr>
      <vt:lpstr>CosIgn verIfy</vt:lpstr>
      <vt:lpstr>Kyverno</vt:lpstr>
      <vt:lpstr>Kyverno sIgn</vt:lpstr>
      <vt:lpstr>PIpeSec PIpelIne Akışı</vt:lpstr>
      <vt:lpstr>Dİzayn</vt:lpstr>
      <vt:lpstr>Geliştirme</vt:lpstr>
      <vt:lpstr>Dinlediğiniz için teşekkürler</vt:lpstr>
    </vt:vector>
  </TitlesOfParts>
  <Company>Aselsan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erengecer</dc:creator>
  <cp:lastModifiedBy>erengecer</cp:lastModifiedBy>
  <cp:revision>9</cp:revision>
  <dcterms:created xsi:type="dcterms:W3CDTF">2026-07-30T13:25:16Z</dcterms:created>
  <dcterms:modified xsi:type="dcterms:W3CDTF">2026-07-31T09:57:44Z</dcterms:modified>
</cp:coreProperties>
</file>